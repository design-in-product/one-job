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426"/>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35343"/>
          </a:solidFill>
          <a:ln/>
        </p:spPr>
      </p:sp>
      <p:sp>
        <p:nvSpPr>
          <p:cNvPr id="3" name="Text 1"/>
          <p:cNvSpPr/>
          <p:nvPr/>
        </p:nvSpPr>
        <p:spPr>
          <a:xfrm>
            <a:off x="731520" y="1417320"/>
            <a:ext cx="7680960" cy="1143000"/>
          </a:xfrm>
          <a:prstGeom prst="rect">
            <a:avLst/>
          </a:prstGeom>
          <a:noFill/>
          <a:ln/>
        </p:spPr>
        <p:txBody>
          <a:bodyPr wrap="square" lIns="0" tIns="0" rIns="0" bIns="0" rtlCol="0" anchor="ctr"/>
          <a:lstStyle/>
          <a:p>
            <a:pPr algn="ctr" indent="0" marL="0">
              <a:buNone/>
            </a:pPr>
            <a:r>
              <a:rPr lang="en-US" sz="6000" b="1" dirty="0">
                <a:solidFill>
                  <a:srgbClr val="FFFFFF"/>
                </a:solidFill>
                <a:latin typeface="Georgia" pitchFamily="34" charset="0"/>
                <a:ea typeface="Georgia" pitchFamily="34" charset="-122"/>
                <a:cs typeface="Georgia" pitchFamily="34" charset="-120"/>
              </a:rPr>
              <a:t>One Job</a:t>
            </a:r>
            <a:endParaRPr lang="en-US" sz="6000" dirty="0"/>
          </a:p>
        </p:txBody>
      </p:sp>
      <p:sp>
        <p:nvSpPr>
          <p:cNvPr id="4" name="Text 2"/>
          <p:cNvSpPr/>
          <p:nvPr/>
        </p:nvSpPr>
        <p:spPr>
          <a:xfrm>
            <a:off x="1005840" y="2697480"/>
            <a:ext cx="7132320" cy="640080"/>
          </a:xfrm>
          <a:prstGeom prst="rect">
            <a:avLst/>
          </a:prstGeom>
          <a:noFill/>
          <a:ln/>
        </p:spPr>
        <p:txBody>
          <a:bodyPr wrap="square" lIns="0" tIns="0" rIns="0" bIns="0" rtlCol="0" anchor="ctr"/>
          <a:lstStyle/>
          <a:p>
            <a:pPr algn="ctr" indent="0" marL="0">
              <a:buNone/>
            </a:pPr>
            <a:r>
              <a:rPr lang="en-US" sz="1800" dirty="0">
                <a:solidFill>
                  <a:srgbClr val="F35343"/>
                </a:solidFill>
                <a:latin typeface="Calibri" pitchFamily="34" charset="0"/>
                <a:ea typeface="Calibri" pitchFamily="34" charset="-122"/>
                <a:cs typeface="Calibri" pitchFamily="34" charset="-120"/>
              </a:rPr>
              <a:t>One task at a time — yours, or handed to you by an agent</a:t>
            </a:r>
            <a:endParaRPr lang="en-US" sz="1800" dirty="0"/>
          </a:p>
        </p:txBody>
      </p:sp>
      <p:sp>
        <p:nvSpPr>
          <p:cNvPr id="5" name="Shape 3"/>
          <p:cNvSpPr/>
          <p:nvPr/>
        </p:nvSpPr>
        <p:spPr>
          <a:xfrm>
            <a:off x="4023360" y="3520440"/>
            <a:ext cx="1097280" cy="36576"/>
          </a:xfrm>
          <a:prstGeom prst="rect">
            <a:avLst/>
          </a:prstGeom>
          <a:solidFill>
            <a:srgbClr val="00B894"/>
          </a:solidFill>
          <a:ln/>
        </p:spPr>
      </p:sp>
      <p:sp>
        <p:nvSpPr>
          <p:cNvPr id="6" name="Text 4"/>
          <p:cNvSpPr/>
          <p:nvPr/>
        </p:nvSpPr>
        <p:spPr>
          <a:xfrm>
            <a:off x="2743200" y="3794760"/>
            <a:ext cx="3657600" cy="274320"/>
          </a:xfrm>
          <a:prstGeom prst="rect">
            <a:avLst/>
          </a:prstGeom>
          <a:noFill/>
          <a:ln/>
        </p:spPr>
        <p:txBody>
          <a:bodyPr wrap="square" lIns="0" tIns="0" rIns="0" bIns="0" rtlCol="0" anchor="ctr"/>
          <a:lstStyle/>
          <a:p>
            <a:pPr algn="ctr" indent="0" marL="0">
              <a:buNone/>
            </a:pPr>
            <a:r>
              <a:rPr lang="en-US" sz="1100" spc="200" kern="0" dirty="0">
                <a:solidFill>
                  <a:srgbClr val="8A9095"/>
                </a:solidFill>
                <a:latin typeface="Calibri" pitchFamily="34" charset="0"/>
                <a:ea typeface="Calibri" pitchFamily="34" charset="-122"/>
                <a:cs typeface="Calibri" pitchFamily="34" charset="-120"/>
              </a:rPr>
              <a:t>Pre-seed  ·  2026</a:t>
            </a:r>
            <a:endParaRPr lang="en-US" sz="1100" dirty="0"/>
          </a:p>
        </p:txBody>
      </p:sp>
      <p:sp>
        <p:nvSpPr>
          <p:cNvPr id="7" name="Shape 5"/>
          <p:cNvSpPr/>
          <p:nvPr/>
        </p:nvSpPr>
        <p:spPr>
          <a:xfrm>
            <a:off x="0" y="4983480"/>
            <a:ext cx="9144000" cy="160020"/>
          </a:xfrm>
          <a:prstGeom prst="rect">
            <a:avLst/>
          </a:prstGeom>
          <a:solidFill>
            <a:srgbClr val="F35343"/>
          </a:solidFill>
          <a:ln/>
        </p:spPr>
      </p:sp>
      <p:sp>
        <p:nvSpPr>
          <p:cNvPr id="8" name="Text 6"/>
          <p:cNvSpPr/>
          <p:nvPr/>
        </p:nvSpPr>
        <p:spPr>
          <a:xfrm>
            <a:off x="8458200" y="4709160"/>
            <a:ext cx="457200" cy="228600"/>
          </a:xfrm>
          <a:prstGeom prst="rect">
            <a:avLst/>
          </a:prstGeom>
          <a:noFill/>
          <a:ln/>
        </p:spPr>
        <p:txBody>
          <a:bodyPr wrap="square" lIns="0" tIns="0" rIns="0" bIns="0" rtlCol="0" anchor="ctr"/>
          <a:lstStyle/>
          <a:p>
            <a:pPr algn="ctr" indent="0" marL="0">
              <a:buNone/>
            </a:pPr>
            <a:r>
              <a:rPr lang="en-US" sz="900" dirty="0">
                <a:solidFill>
                  <a:srgbClr val="8A9095"/>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640080" y="274320"/>
            <a:ext cx="5486400" cy="228600"/>
          </a:xfrm>
          <a:prstGeom prst="rect">
            <a:avLst/>
          </a:prstGeom>
          <a:noFill/>
          <a:ln/>
        </p:spPr>
        <p:txBody>
          <a:bodyPr wrap="square" lIns="0" tIns="0" rIns="0" bIns="0" rtlCol="0" anchor="ctr"/>
          <a:lstStyle/>
          <a:p>
            <a:pPr indent="0" marL="0">
              <a:buNone/>
            </a:pPr>
            <a:r>
              <a:rPr lang="en-US" sz="900" b="1" spc="300" kern="0" dirty="0">
                <a:solidFill>
                  <a:srgbClr val="74787C"/>
                </a:solidFill>
                <a:latin typeface="Calibri" pitchFamily="34" charset="0"/>
                <a:ea typeface="Calibri" pitchFamily="34" charset="-122"/>
                <a:cs typeface="Calibri" pitchFamily="34" charset="-120"/>
              </a:rPr>
              <a:t>WHO'S BUILDING IT</a:t>
            </a:r>
            <a:endParaRPr lang="en-US" sz="900" dirty="0"/>
          </a:p>
        </p:txBody>
      </p:sp>
      <p:sp>
        <p:nvSpPr>
          <p:cNvPr id="3" name="Text 1"/>
          <p:cNvSpPr/>
          <p:nvPr/>
        </p:nvSpPr>
        <p:spPr>
          <a:xfrm>
            <a:off x="640080" y="685800"/>
            <a:ext cx="7863840" cy="1380744"/>
          </a:xfrm>
          <a:prstGeom prst="rect">
            <a:avLst/>
          </a:prstGeom>
          <a:noFill/>
          <a:ln/>
        </p:spPr>
        <p:txBody>
          <a:bodyPr wrap="square" lIns="0" tIns="0" rIns="0" bIns="0" rtlCol="0" anchor="t"/>
          <a:lstStyle/>
          <a:p>
            <a:pPr indent="0" marL="0">
              <a:buNone/>
            </a:pPr>
            <a:r>
              <a:rPr lang="en-US" sz="2700" b="1" dirty="0">
                <a:solidFill>
                  <a:srgbClr val="2D3436"/>
                </a:solidFill>
                <a:latin typeface="Georgia" pitchFamily="34" charset="0"/>
                <a:ea typeface="Georgia" pitchFamily="34" charset="-122"/>
                <a:cs typeface="Georgia" pitchFamily="34" charset="-120"/>
              </a:rPr>
              <a:t>Twenty years shipping products where attention was the scarce resource.</a:t>
            </a:r>
            <a:endParaRPr lang="en-US" sz="2700" dirty="0"/>
          </a:p>
        </p:txBody>
      </p:sp>
      <p:sp>
        <p:nvSpPr>
          <p:cNvPr id="4" name="Shape 2"/>
          <p:cNvSpPr/>
          <p:nvPr/>
        </p:nvSpPr>
        <p:spPr>
          <a:xfrm>
            <a:off x="640080" y="2176272"/>
            <a:ext cx="1097280" cy="45720"/>
          </a:xfrm>
          <a:prstGeom prst="rect">
            <a:avLst/>
          </a:prstGeom>
          <a:solidFill>
            <a:srgbClr val="F35343"/>
          </a:solidFill>
          <a:ln/>
        </p:spPr>
      </p:sp>
      <p:pic>
        <p:nvPicPr>
          <p:cNvPr id="5" name="Image 0" descr="preencoded.png">    </p:cNvPr>
          <p:cNvPicPr>
            <a:picLocks noChangeAspect="1"/>
          </p:cNvPicPr>
          <p:nvPr/>
        </p:nvPicPr>
        <p:blipFill>
          <a:blip r:embed="rId1"/>
          <a:stretch>
            <a:fillRect/>
          </a:stretch>
        </p:blipFill>
        <p:spPr>
          <a:xfrm>
            <a:off x="658368" y="2464308"/>
            <a:ext cx="182880" cy="182880"/>
          </a:xfrm>
          <a:prstGeom prst="rect">
            <a:avLst/>
          </a:prstGeom>
        </p:spPr>
      </p:pic>
      <p:sp>
        <p:nvSpPr>
          <p:cNvPr id="6" name="Text 3"/>
          <p:cNvSpPr/>
          <p:nvPr/>
        </p:nvSpPr>
        <p:spPr>
          <a:xfrm>
            <a:off x="1051560" y="2423160"/>
            <a:ext cx="7040880" cy="530352"/>
          </a:xfrm>
          <a:prstGeom prst="rect">
            <a:avLst/>
          </a:prstGeom>
          <a:noFill/>
          <a:ln/>
        </p:spPr>
        <p:txBody>
          <a:bodyPr wrap="square" lIns="0" tIns="0" rIns="0" bIns="0" rtlCol="0" anchor="t"/>
          <a:lstStyle/>
          <a:p>
            <a:pPr indent="0" marL="0">
              <a:buNone/>
            </a:pPr>
            <a:r>
              <a:rPr lang="en-US" sz="1300" dirty="0">
                <a:solidFill>
                  <a:srgbClr val="2D3436"/>
                </a:solidFill>
                <a:latin typeface="Calibri" pitchFamily="34" charset="0"/>
                <a:ea typeface="Calibri" pitchFamily="34" charset="-122"/>
                <a:cs typeface="Calibri" pitchFamily="34" charset="-120"/>
              </a:rPr>
              <a:t>Appointed by Gov. Newsom to California's Office of Data and Innovation; later Acting Deputy Director for Service Innovation</a:t>
            </a:r>
            <a:endParaRPr lang="en-US" sz="1300" dirty="0"/>
          </a:p>
        </p:txBody>
      </p:sp>
      <p:pic>
        <p:nvPicPr>
          <p:cNvPr id="7" name="Image 1" descr="preencoded.png">    </p:cNvPr>
          <p:cNvPicPr>
            <a:picLocks noChangeAspect="1"/>
          </p:cNvPicPr>
          <p:nvPr/>
        </p:nvPicPr>
        <p:blipFill>
          <a:blip r:embed="rId2"/>
          <a:stretch>
            <a:fillRect/>
          </a:stretch>
        </p:blipFill>
        <p:spPr>
          <a:xfrm>
            <a:off x="658368" y="3067812"/>
            <a:ext cx="182880" cy="182880"/>
          </a:xfrm>
          <a:prstGeom prst="rect">
            <a:avLst/>
          </a:prstGeom>
        </p:spPr>
      </p:pic>
      <p:sp>
        <p:nvSpPr>
          <p:cNvPr id="8" name="Text 4"/>
          <p:cNvSpPr/>
          <p:nvPr/>
        </p:nvSpPr>
        <p:spPr>
          <a:xfrm>
            <a:off x="1051560" y="3026664"/>
            <a:ext cx="7040880" cy="530352"/>
          </a:xfrm>
          <a:prstGeom prst="rect">
            <a:avLst/>
          </a:prstGeom>
          <a:noFill/>
          <a:ln/>
        </p:spPr>
        <p:txBody>
          <a:bodyPr wrap="square" lIns="0" tIns="0" rIns="0" bIns="0" rtlCol="0" anchor="t"/>
          <a:lstStyle/>
          <a:p>
            <a:pPr indent="0" marL="0">
              <a:buNone/>
            </a:pPr>
            <a:r>
              <a:rPr lang="en-US" sz="1300" dirty="0">
                <a:solidFill>
                  <a:srgbClr val="2D3436"/>
                </a:solidFill>
                <a:latin typeface="Calibri" pitchFamily="34" charset="0"/>
                <a:ea typeface="Calibri" pitchFamily="34" charset="-122"/>
                <a:cs typeface="Calibri" pitchFamily="34" charset="-120"/>
              </a:rPr>
              <a:t>Ran product for covid19.ca.gov — among the highest-traffic public health sites in the country</a:t>
            </a:r>
            <a:endParaRPr lang="en-US" sz="1300" dirty="0"/>
          </a:p>
        </p:txBody>
      </p:sp>
      <p:pic>
        <p:nvPicPr>
          <p:cNvPr id="9" name="Image 2" descr="preencoded.png">    </p:cNvPr>
          <p:cNvPicPr>
            <a:picLocks noChangeAspect="1"/>
          </p:cNvPicPr>
          <p:nvPr/>
        </p:nvPicPr>
        <p:blipFill>
          <a:blip r:embed="rId3"/>
          <a:stretch>
            <a:fillRect/>
          </a:stretch>
        </p:blipFill>
        <p:spPr>
          <a:xfrm>
            <a:off x="658368" y="3671316"/>
            <a:ext cx="182880" cy="182880"/>
          </a:xfrm>
          <a:prstGeom prst="rect">
            <a:avLst/>
          </a:prstGeom>
        </p:spPr>
      </p:pic>
      <p:sp>
        <p:nvSpPr>
          <p:cNvPr id="10" name="Text 5"/>
          <p:cNvSpPr/>
          <p:nvPr/>
        </p:nvSpPr>
        <p:spPr>
          <a:xfrm>
            <a:off x="1051560" y="3630168"/>
            <a:ext cx="7040880" cy="292608"/>
          </a:xfrm>
          <a:prstGeom prst="rect">
            <a:avLst/>
          </a:prstGeom>
          <a:noFill/>
          <a:ln/>
        </p:spPr>
        <p:txBody>
          <a:bodyPr wrap="square" lIns="0" tIns="0" rIns="0" bIns="0" rtlCol="0" anchor="t"/>
          <a:lstStyle/>
          <a:p>
            <a:pPr indent="0" marL="0">
              <a:buNone/>
            </a:pPr>
            <a:r>
              <a:rPr lang="en-US" sz="1300" dirty="0">
                <a:solidFill>
                  <a:srgbClr val="2D3436"/>
                </a:solidFill>
                <a:latin typeface="Calibri" pitchFamily="34" charset="0"/>
                <a:ea typeface="Calibri" pitchFamily="34" charset="-122"/>
                <a:cs typeface="Calibri" pitchFamily="34" charset="-120"/>
              </a:rPr>
              <a:t>Led the Product chapter at 18F, the federal government's digital services team</a:t>
            </a:r>
            <a:endParaRPr lang="en-US" sz="1300" dirty="0"/>
          </a:p>
        </p:txBody>
      </p:sp>
      <p:pic>
        <p:nvPicPr>
          <p:cNvPr id="11" name="Image 3" descr="preencoded.png">    </p:cNvPr>
          <p:cNvPicPr>
            <a:picLocks noChangeAspect="1"/>
          </p:cNvPicPr>
          <p:nvPr/>
        </p:nvPicPr>
        <p:blipFill>
          <a:blip r:embed="rId4"/>
          <a:stretch>
            <a:fillRect/>
          </a:stretch>
        </p:blipFill>
        <p:spPr>
          <a:xfrm>
            <a:off x="658368" y="4037076"/>
            <a:ext cx="182880" cy="182880"/>
          </a:xfrm>
          <a:prstGeom prst="rect">
            <a:avLst/>
          </a:prstGeom>
        </p:spPr>
      </p:pic>
      <p:sp>
        <p:nvSpPr>
          <p:cNvPr id="12" name="Text 6"/>
          <p:cNvSpPr/>
          <p:nvPr/>
        </p:nvSpPr>
        <p:spPr>
          <a:xfrm>
            <a:off x="1051560" y="3995928"/>
            <a:ext cx="7040880" cy="530352"/>
          </a:xfrm>
          <a:prstGeom prst="rect">
            <a:avLst/>
          </a:prstGeom>
          <a:noFill/>
          <a:ln/>
        </p:spPr>
        <p:txBody>
          <a:bodyPr wrap="square" lIns="0" tIns="0" rIns="0" bIns="0" rtlCol="0" anchor="t"/>
          <a:lstStyle/>
          <a:p>
            <a:pPr indent="0" marL="0">
              <a:buNone/>
            </a:pPr>
            <a:r>
              <a:rPr lang="en-US" sz="1300" dirty="0">
                <a:solidFill>
                  <a:srgbClr val="2D3436"/>
                </a:solidFill>
                <a:latin typeface="Calibri" pitchFamily="34" charset="0"/>
                <a:ea typeface="Calibri" pitchFamily="34" charset="-122"/>
                <a:cs typeface="Calibri" pitchFamily="34" charset="-120"/>
              </a:rPr>
              <a:t>Four books on product and design — O'Reilly, Rosenfeld Media, Wiley — including Designing Social Interfaces</a:t>
            </a:r>
            <a:endParaRPr lang="en-US" sz="1300" dirty="0"/>
          </a:p>
        </p:txBody>
      </p:sp>
      <p:pic>
        <p:nvPicPr>
          <p:cNvPr id="13" name="Image 4" descr="preencoded.png">    </p:cNvPr>
          <p:cNvPicPr>
            <a:picLocks noChangeAspect="1"/>
          </p:cNvPicPr>
          <p:nvPr/>
        </p:nvPicPr>
        <p:blipFill>
          <a:blip r:embed="rId5"/>
          <a:stretch>
            <a:fillRect/>
          </a:stretch>
        </p:blipFill>
        <p:spPr>
          <a:xfrm>
            <a:off x="658368" y="4640580"/>
            <a:ext cx="182880" cy="182880"/>
          </a:xfrm>
          <a:prstGeom prst="rect">
            <a:avLst/>
          </a:prstGeom>
        </p:spPr>
      </p:pic>
      <p:sp>
        <p:nvSpPr>
          <p:cNvPr id="14" name="Text 7"/>
          <p:cNvSpPr/>
          <p:nvPr/>
        </p:nvSpPr>
        <p:spPr>
          <a:xfrm>
            <a:off x="1051560" y="4599432"/>
            <a:ext cx="7040880" cy="292608"/>
          </a:xfrm>
          <a:prstGeom prst="rect">
            <a:avLst/>
          </a:prstGeom>
          <a:noFill/>
          <a:ln/>
        </p:spPr>
        <p:txBody>
          <a:bodyPr wrap="square" lIns="0" tIns="0" rIns="0" bIns="0" rtlCol="0" anchor="t"/>
          <a:lstStyle/>
          <a:p>
            <a:pPr indent="0" marL="0">
              <a:buNone/>
            </a:pPr>
            <a:r>
              <a:rPr lang="en-US" sz="1300" dirty="0">
                <a:solidFill>
                  <a:srgbClr val="2D3436"/>
                </a:solidFill>
                <a:latin typeface="Calibri" pitchFamily="34" charset="0"/>
                <a:ea typeface="Calibri" pitchFamily="34" charset="-122"/>
                <a:cs typeface="Calibri" pitchFamily="34" charset="-120"/>
              </a:rPr>
              <a:t>Product leadership at Yahoo!, AOL, CloudOn (acq. Dropbox), and 7 Cups</a:t>
            </a:r>
            <a:endParaRPr lang="en-US" sz="1300" dirty="0"/>
          </a:p>
        </p:txBody>
      </p:sp>
      <p:sp>
        <p:nvSpPr>
          <p:cNvPr id="15" name="Shape 8"/>
          <p:cNvSpPr/>
          <p:nvPr/>
        </p:nvSpPr>
        <p:spPr>
          <a:xfrm>
            <a:off x="0" y="4983480"/>
            <a:ext cx="9144000" cy="160020"/>
          </a:xfrm>
          <a:prstGeom prst="rect">
            <a:avLst/>
          </a:prstGeom>
          <a:solidFill>
            <a:srgbClr val="F35343"/>
          </a:solidFill>
          <a:ln/>
        </p:spPr>
      </p:sp>
      <p:sp>
        <p:nvSpPr>
          <p:cNvPr id="16" name="Text 9"/>
          <p:cNvSpPr/>
          <p:nvPr/>
        </p:nvSpPr>
        <p:spPr>
          <a:xfrm>
            <a:off x="8458200" y="4709160"/>
            <a:ext cx="457200" cy="228600"/>
          </a:xfrm>
          <a:prstGeom prst="rect">
            <a:avLst/>
          </a:prstGeom>
          <a:noFill/>
          <a:ln/>
        </p:spPr>
        <p:txBody>
          <a:bodyPr wrap="square" lIns="0" tIns="0" rIns="0" bIns="0" rtlCol="0" anchor="ctr"/>
          <a:lstStyle/>
          <a:p>
            <a:pPr algn="ctr" indent="0" marL="0">
              <a:buNone/>
            </a:pPr>
            <a:r>
              <a:rPr lang="en-US" sz="900" dirty="0">
                <a:solidFill>
                  <a:srgbClr val="74787C"/>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F2426"/>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457200"/>
            <a:ext cx="502920" cy="502920"/>
          </a:xfrm>
          <a:prstGeom prst="rect">
            <a:avLst/>
          </a:prstGeom>
        </p:spPr>
      </p:pic>
      <p:sp>
        <p:nvSpPr>
          <p:cNvPr id="3" name="Text 0"/>
          <p:cNvSpPr/>
          <p:nvPr/>
        </p:nvSpPr>
        <p:spPr>
          <a:xfrm>
            <a:off x="640080" y="1143000"/>
            <a:ext cx="7863840" cy="969264"/>
          </a:xfrm>
          <a:prstGeom prst="rect">
            <a:avLst/>
          </a:prstGeom>
          <a:noFill/>
          <a:ln/>
        </p:spPr>
        <p:txBody>
          <a:bodyPr wrap="square" lIns="0" tIns="0" rIns="0" bIns="0" rtlCol="0" anchor="t"/>
          <a:lstStyle/>
          <a:p>
            <a:pPr indent="0" marL="0">
              <a:buNone/>
            </a:pPr>
            <a:r>
              <a:rPr lang="en-US" sz="2700" b="1" dirty="0">
                <a:solidFill>
                  <a:srgbClr val="FFFFFF"/>
                </a:solidFill>
                <a:latin typeface="Georgia" pitchFamily="34" charset="0"/>
                <a:ea typeface="Georgia" pitchFamily="34" charset="-122"/>
                <a:cs typeface="Georgia" pitchFamily="34" charset="-120"/>
              </a:rPr>
              <a:t>Interrupted every two minutes. Then shown all 47 things at once.</a:t>
            </a:r>
            <a:endParaRPr lang="en-US" sz="2700" dirty="0"/>
          </a:p>
        </p:txBody>
      </p:sp>
      <p:sp>
        <p:nvSpPr>
          <p:cNvPr id="4" name="Shape 1"/>
          <p:cNvSpPr/>
          <p:nvPr/>
        </p:nvSpPr>
        <p:spPr>
          <a:xfrm>
            <a:off x="640080" y="2240280"/>
            <a:ext cx="1097280" cy="45720"/>
          </a:xfrm>
          <a:prstGeom prst="rect">
            <a:avLst/>
          </a:prstGeom>
          <a:solidFill>
            <a:srgbClr val="F35343"/>
          </a:solidFill>
          <a:ln/>
        </p:spPr>
      </p:sp>
      <p:sp>
        <p:nvSpPr>
          <p:cNvPr id="5" name="Shape 2"/>
          <p:cNvSpPr/>
          <p:nvPr/>
        </p:nvSpPr>
        <p:spPr>
          <a:xfrm>
            <a:off x="640080" y="2505456"/>
            <a:ext cx="7863840" cy="2295144"/>
          </a:xfrm>
          <a:prstGeom prst="rect">
            <a:avLst/>
          </a:prstGeom>
          <a:solidFill>
            <a:srgbClr val="2A3033"/>
          </a:solidFill>
          <a:ln/>
        </p:spPr>
      </p:sp>
      <p:sp>
        <p:nvSpPr>
          <p:cNvPr id="6" name="Shape 3"/>
          <p:cNvSpPr/>
          <p:nvPr/>
        </p:nvSpPr>
        <p:spPr>
          <a:xfrm>
            <a:off x="640080" y="2505456"/>
            <a:ext cx="64008" cy="2295144"/>
          </a:xfrm>
          <a:prstGeom prst="rect">
            <a:avLst/>
          </a:prstGeom>
          <a:solidFill>
            <a:srgbClr val="F35343"/>
          </a:solidFill>
          <a:ln/>
        </p:spPr>
      </p:sp>
      <p:sp>
        <p:nvSpPr>
          <p:cNvPr id="7" name="Text 4"/>
          <p:cNvSpPr/>
          <p:nvPr/>
        </p:nvSpPr>
        <p:spPr>
          <a:xfrm>
            <a:off x="914400" y="2670048"/>
            <a:ext cx="7315200" cy="1965960"/>
          </a:xfrm>
          <a:prstGeom prst="rect">
            <a:avLst/>
          </a:prstGeom>
          <a:noFill/>
          <a:ln/>
        </p:spPr>
        <p:txBody>
          <a:bodyPr wrap="square" lIns="0" tIns="0" rIns="0" bIns="0" rtlCol="0" anchor="t"/>
          <a:lstStyle/>
          <a:p>
            <a:pPr indent="0" marL="0">
              <a:lnSpc>
                <a:spcPct val="115000"/>
              </a:lnSpc>
              <a:buNone/>
            </a:pPr>
            <a:r>
              <a:rPr lang="en-US" sz="1300" dirty="0">
                <a:solidFill>
                  <a:srgbClr val="E6ECF2"/>
                </a:solidFill>
                <a:latin typeface="Calibri" pitchFamily="34" charset="0"/>
                <a:ea typeface="Calibri" pitchFamily="34" charset="-122"/>
                <a:cs typeface="Calibri" pitchFamily="34" charset="-120"/>
              </a:rPr>
              <a:t>Knowledge workers receive 117 emails and 153 chat messages every weekday, and are interrupted every two minutes during core hours (Microsoft, 2025).</a:t>
            </a:r>
            <a:endParaRPr lang="en-US" sz="1300" dirty="0"/>
          </a:p>
          <a:p>
            <a:pPr indent="0" marL="0">
              <a:lnSpc>
                <a:spcPct val="115000"/>
              </a:lnSpc>
              <a:buNone/>
            </a:pPr>
            <a:endParaRPr lang="en-US" sz="1300" dirty="0"/>
          </a:p>
          <a:p>
            <a:pPr indent="0" marL="0">
              <a:lnSpc>
                <a:spcPct val="115000"/>
              </a:lnSpc>
              <a:buNone/>
            </a:pPr>
            <a:r>
              <a:rPr lang="en-US" sz="1300" dirty="0">
                <a:solidFill>
                  <a:srgbClr val="E6ECF2"/>
                </a:solidFill>
                <a:latin typeface="Calibri" pitchFamily="34" charset="0"/>
                <a:ea typeface="Calibri" pitchFamily="34" charset="-122"/>
                <a:cs typeface="Calibri" pitchFamily="34" charset="-120"/>
              </a:rPr>
              <a:t>Then they open a to-do app that renders the entire backlog at once, and spend the next ten minutes deciding instead of doing.</a:t>
            </a:r>
            <a:endParaRPr lang="en-US" sz="1300" dirty="0"/>
          </a:p>
          <a:p>
            <a:pPr indent="0" marL="0">
              <a:lnSpc>
                <a:spcPct val="115000"/>
              </a:lnSpc>
              <a:buNone/>
            </a:pPr>
            <a:endParaRPr lang="en-US" sz="1300" dirty="0"/>
          </a:p>
          <a:p>
            <a:pPr indent="0" marL="0">
              <a:lnSpc>
                <a:spcPct val="115000"/>
              </a:lnSpc>
              <a:buNone/>
            </a:pPr>
            <a:r>
              <a:rPr lang="en-US" sz="1300" dirty="0">
                <a:solidFill>
                  <a:srgbClr val="E6ECF2"/>
                </a:solidFill>
                <a:latin typeface="Calibri" pitchFamily="34" charset="0"/>
                <a:ea typeface="Calibri" pitchFamily="34" charset="-122"/>
                <a:cs typeface="Calibri" pitchFamily="34" charset="-120"/>
              </a:rPr>
              <a:t>Forty-seven open items is not information. It's dread, delivered on schedule.</a:t>
            </a:r>
            <a:endParaRPr lang="en-US" sz="1300" dirty="0"/>
          </a:p>
        </p:txBody>
      </p:sp>
      <p:sp>
        <p:nvSpPr>
          <p:cNvPr id="8" name="Shape 5"/>
          <p:cNvSpPr/>
          <p:nvPr/>
        </p:nvSpPr>
        <p:spPr>
          <a:xfrm>
            <a:off x="0" y="4983480"/>
            <a:ext cx="9144000" cy="160020"/>
          </a:xfrm>
          <a:prstGeom prst="rect">
            <a:avLst/>
          </a:prstGeom>
          <a:solidFill>
            <a:srgbClr val="F35343"/>
          </a:solidFill>
          <a:ln/>
        </p:spPr>
      </p:sp>
      <p:sp>
        <p:nvSpPr>
          <p:cNvPr id="9" name="Text 6"/>
          <p:cNvSpPr/>
          <p:nvPr/>
        </p:nvSpPr>
        <p:spPr>
          <a:xfrm>
            <a:off x="8458200" y="4709160"/>
            <a:ext cx="457200" cy="228600"/>
          </a:xfrm>
          <a:prstGeom prst="rect">
            <a:avLst/>
          </a:prstGeom>
          <a:noFill/>
          <a:ln/>
        </p:spPr>
        <p:txBody>
          <a:bodyPr wrap="square" lIns="0" tIns="0" rIns="0" bIns="0" rtlCol="0" anchor="ctr"/>
          <a:lstStyle/>
          <a:p>
            <a:pPr algn="ctr" indent="0" marL="0">
              <a:buNone/>
            </a:pPr>
            <a:r>
              <a:rPr lang="en-US" sz="900" dirty="0">
                <a:solidFill>
                  <a:srgbClr val="8A9095"/>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640080" y="274320"/>
            <a:ext cx="5486400" cy="228600"/>
          </a:xfrm>
          <a:prstGeom prst="rect">
            <a:avLst/>
          </a:prstGeom>
          <a:noFill/>
          <a:ln/>
        </p:spPr>
        <p:txBody>
          <a:bodyPr wrap="square" lIns="0" tIns="0" rIns="0" bIns="0" rtlCol="0" anchor="ctr"/>
          <a:lstStyle/>
          <a:p>
            <a:pPr indent="0" marL="0">
              <a:buNone/>
            </a:pPr>
            <a:r>
              <a:rPr lang="en-US" sz="900" b="1" spc="300" kern="0" dirty="0">
                <a:solidFill>
                  <a:srgbClr val="74787C"/>
                </a:solidFill>
                <a:latin typeface="Calibri" pitchFamily="34" charset="0"/>
                <a:ea typeface="Calibri" pitchFamily="34" charset="-122"/>
                <a:cs typeface="Calibri" pitchFamily="34" charset="-120"/>
              </a:rPr>
              <a:t>HOW IT'S SOLVED TODAY</a:t>
            </a:r>
            <a:endParaRPr lang="en-US" sz="900" dirty="0"/>
          </a:p>
        </p:txBody>
      </p:sp>
      <p:sp>
        <p:nvSpPr>
          <p:cNvPr id="3" name="Text 1"/>
          <p:cNvSpPr/>
          <p:nvPr/>
        </p:nvSpPr>
        <p:spPr>
          <a:xfrm>
            <a:off x="640080" y="685800"/>
            <a:ext cx="7863840" cy="969264"/>
          </a:xfrm>
          <a:prstGeom prst="rect">
            <a:avLst/>
          </a:prstGeom>
          <a:noFill/>
          <a:ln/>
        </p:spPr>
        <p:txBody>
          <a:bodyPr wrap="square" lIns="0" tIns="0" rIns="0" bIns="0" rtlCol="0" anchor="t"/>
          <a:lstStyle/>
          <a:p>
            <a:pPr indent="0" marL="0">
              <a:buNone/>
            </a:pPr>
            <a:r>
              <a:rPr lang="en-US" sz="2700" b="1" dirty="0">
                <a:solidFill>
                  <a:srgbClr val="2D3436"/>
                </a:solidFill>
                <a:latin typeface="Georgia" pitchFamily="34" charset="0"/>
                <a:ea typeface="Georgia" pitchFamily="34" charset="-122"/>
                <a:cs typeface="Georgia" pitchFamily="34" charset="-120"/>
              </a:rPr>
              <a:t>Every tool solved storing the work. None of them solved choosing it.</a:t>
            </a:r>
            <a:endParaRPr lang="en-US" sz="2700" dirty="0"/>
          </a:p>
        </p:txBody>
      </p:sp>
      <p:sp>
        <p:nvSpPr>
          <p:cNvPr id="4" name="Shape 2"/>
          <p:cNvSpPr/>
          <p:nvPr/>
        </p:nvSpPr>
        <p:spPr>
          <a:xfrm>
            <a:off x="640080" y="1764792"/>
            <a:ext cx="1097280" cy="45720"/>
          </a:xfrm>
          <a:prstGeom prst="rect">
            <a:avLst/>
          </a:prstGeom>
          <a:solidFill>
            <a:srgbClr val="F35343"/>
          </a:solidFill>
          <a:ln/>
        </p:spPr>
      </p:sp>
      <p:sp>
        <p:nvSpPr>
          <p:cNvPr id="5" name="Shape 3"/>
          <p:cNvSpPr/>
          <p:nvPr/>
        </p:nvSpPr>
        <p:spPr>
          <a:xfrm>
            <a:off x="640080" y="2011680"/>
            <a:ext cx="7863840" cy="844296"/>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6" name="Image 0" descr="preencoded.png">    </p:cNvPr>
          <p:cNvPicPr>
            <a:picLocks noChangeAspect="1"/>
          </p:cNvPicPr>
          <p:nvPr/>
        </p:nvPicPr>
        <p:blipFill>
          <a:blip r:embed="rId1"/>
          <a:stretch>
            <a:fillRect/>
          </a:stretch>
        </p:blipFill>
        <p:spPr>
          <a:xfrm>
            <a:off x="914400" y="2333244"/>
            <a:ext cx="201168" cy="201168"/>
          </a:xfrm>
          <a:prstGeom prst="rect">
            <a:avLst/>
          </a:prstGeom>
        </p:spPr>
      </p:pic>
      <p:sp>
        <p:nvSpPr>
          <p:cNvPr id="7" name="Text 4"/>
          <p:cNvSpPr/>
          <p:nvPr/>
        </p:nvSpPr>
        <p:spPr>
          <a:xfrm>
            <a:off x="1325880" y="2084832"/>
            <a:ext cx="6949440" cy="697992"/>
          </a:xfrm>
          <a:prstGeom prst="rect">
            <a:avLst/>
          </a:prstGeom>
          <a:noFill/>
          <a:ln/>
        </p:spPr>
        <p:txBody>
          <a:bodyPr wrap="square" lIns="0" tIns="0" rIns="0" bIns="0" rtlCol="0" anchor="ctr"/>
          <a:lstStyle/>
          <a:p>
            <a:pPr indent="0" marL="0">
              <a:buNone/>
            </a:pPr>
            <a:r>
              <a:rPr lang="en-US" sz="1300" dirty="0">
                <a:solidFill>
                  <a:srgbClr val="2D3436"/>
                </a:solidFill>
                <a:latin typeface="Calibri" pitchFamily="34" charset="0"/>
                <a:ea typeface="Calibri" pitchFamily="34" charset="-122"/>
                <a:cs typeface="Calibri" pitchFamily="34" charset="-120"/>
              </a:rPr>
              <a:t>Task databases — Asana, Jira, Linear, Todoist — are built for teams to track work, not for one person to pick the next thing</a:t>
            </a:r>
            <a:endParaRPr lang="en-US" sz="1300" dirty="0"/>
          </a:p>
        </p:txBody>
      </p:sp>
      <p:sp>
        <p:nvSpPr>
          <p:cNvPr id="8" name="Shape 5"/>
          <p:cNvSpPr/>
          <p:nvPr/>
        </p:nvSpPr>
        <p:spPr>
          <a:xfrm>
            <a:off x="640080" y="2983992"/>
            <a:ext cx="7863840" cy="844296"/>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9" name="Image 1" descr="preencoded.png">    </p:cNvPr>
          <p:cNvPicPr>
            <a:picLocks noChangeAspect="1"/>
          </p:cNvPicPr>
          <p:nvPr/>
        </p:nvPicPr>
        <p:blipFill>
          <a:blip r:embed="rId2"/>
          <a:stretch>
            <a:fillRect/>
          </a:stretch>
        </p:blipFill>
        <p:spPr>
          <a:xfrm>
            <a:off x="914400" y="3305556"/>
            <a:ext cx="201168" cy="201168"/>
          </a:xfrm>
          <a:prstGeom prst="rect">
            <a:avLst/>
          </a:prstGeom>
        </p:spPr>
      </p:pic>
      <p:sp>
        <p:nvSpPr>
          <p:cNvPr id="10" name="Text 6"/>
          <p:cNvSpPr/>
          <p:nvPr/>
        </p:nvSpPr>
        <p:spPr>
          <a:xfrm>
            <a:off x="1325880" y="3057144"/>
            <a:ext cx="6949440" cy="697992"/>
          </a:xfrm>
          <a:prstGeom prst="rect">
            <a:avLst/>
          </a:prstGeom>
          <a:noFill/>
          <a:ln/>
        </p:spPr>
        <p:txBody>
          <a:bodyPr wrap="square" lIns="0" tIns="0" rIns="0" bIns="0" rtlCol="0" anchor="ctr"/>
          <a:lstStyle/>
          <a:p>
            <a:pPr indent="0" marL="0">
              <a:buNone/>
            </a:pPr>
            <a:r>
              <a:rPr lang="en-US" sz="1300" dirty="0">
                <a:solidFill>
                  <a:srgbClr val="2D3436"/>
                </a:solidFill>
                <a:latin typeface="Calibri" pitchFamily="34" charset="0"/>
                <a:ea typeface="Calibri" pitchFamily="34" charset="-122"/>
                <a:cs typeface="Calibri" pitchFamily="34" charset="-120"/>
              </a:rPr>
              <a:t>AI planners — Motion, Reclaim — auto-schedule your calendar, then hand you back the same crowded screen</a:t>
            </a:r>
            <a:endParaRPr lang="en-US" sz="1300" dirty="0"/>
          </a:p>
        </p:txBody>
      </p:sp>
      <p:sp>
        <p:nvSpPr>
          <p:cNvPr id="11" name="Shape 7"/>
          <p:cNvSpPr/>
          <p:nvPr/>
        </p:nvSpPr>
        <p:spPr>
          <a:xfrm>
            <a:off x="640080" y="3956304"/>
            <a:ext cx="7863840" cy="844296"/>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12" name="Image 2" descr="preencoded.png">    </p:cNvPr>
          <p:cNvPicPr>
            <a:picLocks noChangeAspect="1"/>
          </p:cNvPicPr>
          <p:nvPr/>
        </p:nvPicPr>
        <p:blipFill>
          <a:blip r:embed="rId3"/>
          <a:stretch>
            <a:fillRect/>
          </a:stretch>
        </p:blipFill>
        <p:spPr>
          <a:xfrm>
            <a:off x="914400" y="4277868"/>
            <a:ext cx="201168" cy="201168"/>
          </a:xfrm>
          <a:prstGeom prst="rect">
            <a:avLst/>
          </a:prstGeom>
        </p:spPr>
      </p:pic>
      <p:sp>
        <p:nvSpPr>
          <p:cNvPr id="13" name="Text 8"/>
          <p:cNvSpPr/>
          <p:nvPr/>
        </p:nvSpPr>
        <p:spPr>
          <a:xfrm>
            <a:off x="1325880" y="4029456"/>
            <a:ext cx="6949440" cy="697992"/>
          </a:xfrm>
          <a:prstGeom prst="rect">
            <a:avLst/>
          </a:prstGeom>
          <a:noFill/>
          <a:ln/>
        </p:spPr>
        <p:txBody>
          <a:bodyPr wrap="square" lIns="0" tIns="0" rIns="0" bIns="0" rtlCol="0" anchor="ctr"/>
          <a:lstStyle/>
          <a:p>
            <a:pPr indent="0" marL="0">
              <a:buNone/>
            </a:pPr>
            <a:r>
              <a:rPr lang="en-US" sz="1300" dirty="0">
                <a:solidFill>
                  <a:srgbClr val="2D3436"/>
                </a:solidFill>
                <a:latin typeface="Calibri" pitchFamily="34" charset="0"/>
                <a:ea typeface="Calibri" pitchFamily="34" charset="-122"/>
                <a:cs typeface="Calibri" pitchFamily="34" charset="-120"/>
              </a:rPr>
              <a:t>The plain text file — where people land when the app got too opinionated. Infinitely flexible, and no help at all</a:t>
            </a:r>
            <a:endParaRPr lang="en-US" sz="1300" dirty="0"/>
          </a:p>
        </p:txBody>
      </p:sp>
      <p:sp>
        <p:nvSpPr>
          <p:cNvPr id="14" name="Shape 9"/>
          <p:cNvSpPr/>
          <p:nvPr/>
        </p:nvSpPr>
        <p:spPr>
          <a:xfrm>
            <a:off x="0" y="4983480"/>
            <a:ext cx="9144000" cy="160020"/>
          </a:xfrm>
          <a:prstGeom prst="rect">
            <a:avLst/>
          </a:prstGeom>
          <a:solidFill>
            <a:srgbClr val="F35343"/>
          </a:solidFill>
          <a:ln/>
        </p:spPr>
      </p:sp>
      <p:sp>
        <p:nvSpPr>
          <p:cNvPr id="15" name="Text 10"/>
          <p:cNvSpPr/>
          <p:nvPr/>
        </p:nvSpPr>
        <p:spPr>
          <a:xfrm>
            <a:off x="8458200" y="4709160"/>
            <a:ext cx="457200" cy="228600"/>
          </a:xfrm>
          <a:prstGeom prst="rect">
            <a:avLst/>
          </a:prstGeom>
          <a:noFill/>
          <a:ln/>
        </p:spPr>
        <p:txBody>
          <a:bodyPr wrap="square" lIns="0" tIns="0" rIns="0" bIns="0" rtlCol="0" anchor="ctr"/>
          <a:lstStyle/>
          <a:p>
            <a:pPr algn="ctr" indent="0" marL="0">
              <a:buNone/>
            </a:pPr>
            <a:r>
              <a:rPr lang="en-US" sz="900" dirty="0">
                <a:solidFill>
                  <a:srgbClr val="74787C"/>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D3436"/>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206240" y="868680"/>
            <a:ext cx="731520" cy="731520"/>
          </a:xfrm>
          <a:prstGeom prst="rect">
            <a:avLst/>
          </a:prstGeom>
        </p:spPr>
      </p:pic>
      <p:sp>
        <p:nvSpPr>
          <p:cNvPr id="3" name="Text 0"/>
          <p:cNvSpPr/>
          <p:nvPr/>
        </p:nvSpPr>
        <p:spPr>
          <a:xfrm>
            <a:off x="731520" y="1965960"/>
            <a:ext cx="7680960" cy="1170432"/>
          </a:xfrm>
          <a:prstGeom prst="rect">
            <a:avLst/>
          </a:prstGeom>
          <a:noFill/>
          <a:ln/>
        </p:spPr>
        <p:txBody>
          <a:bodyPr wrap="square" lIns="0" tIns="0" rIns="0" bIns="0"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What if the list weren't the interface?</a:t>
            </a:r>
            <a:endParaRPr lang="en-US" sz="3600" dirty="0"/>
          </a:p>
        </p:txBody>
      </p:sp>
      <p:sp>
        <p:nvSpPr>
          <p:cNvPr id="4" name="Text 1"/>
          <p:cNvSpPr/>
          <p:nvPr/>
        </p:nvSpPr>
        <p:spPr>
          <a:xfrm>
            <a:off x="1143000" y="3392424"/>
            <a:ext cx="6858000" cy="885139"/>
          </a:xfrm>
          <a:prstGeom prst="rect">
            <a:avLst/>
          </a:prstGeom>
          <a:noFill/>
          <a:ln/>
        </p:spPr>
        <p:txBody>
          <a:bodyPr wrap="square" lIns="0" tIns="0" rIns="0" bIns="0" rtlCol="0" anchor="t"/>
          <a:lstStyle/>
          <a:p>
            <a:pPr algn="ctr" indent="0" marL="0">
              <a:lnSpc>
                <a:spcPct val="120000"/>
              </a:lnSpc>
              <a:buNone/>
            </a:pPr>
            <a:r>
              <a:rPr lang="en-US" sz="1700" i="1" dirty="0">
                <a:solidFill>
                  <a:srgbClr val="E6ECF2"/>
                </a:solidFill>
                <a:latin typeface="Calibri" pitchFamily="34" charset="0"/>
                <a:ea typeface="Calibri" pitchFamily="34" charset="-122"/>
                <a:cs typeface="Calibri" pitchFamily="34" charset="-120"/>
              </a:rPr>
              <a:t>What if the only thing you ever saw was the next thing — and everything else waited its turn, face down, out of mind.</a:t>
            </a:r>
            <a:endParaRPr lang="en-US" sz="1700" dirty="0"/>
          </a:p>
        </p:txBody>
      </p:sp>
      <p:sp>
        <p:nvSpPr>
          <p:cNvPr id="5" name="Shape 2"/>
          <p:cNvSpPr/>
          <p:nvPr/>
        </p:nvSpPr>
        <p:spPr>
          <a:xfrm>
            <a:off x="0" y="4983480"/>
            <a:ext cx="9144000" cy="160020"/>
          </a:xfrm>
          <a:prstGeom prst="rect">
            <a:avLst/>
          </a:prstGeom>
          <a:solidFill>
            <a:srgbClr val="F35343"/>
          </a:solidFill>
          <a:ln/>
        </p:spPr>
      </p:sp>
      <p:sp>
        <p:nvSpPr>
          <p:cNvPr id="6" name="Text 3"/>
          <p:cNvSpPr/>
          <p:nvPr/>
        </p:nvSpPr>
        <p:spPr>
          <a:xfrm>
            <a:off x="8458200" y="4709160"/>
            <a:ext cx="457200" cy="228600"/>
          </a:xfrm>
          <a:prstGeom prst="rect">
            <a:avLst/>
          </a:prstGeom>
          <a:noFill/>
          <a:ln/>
        </p:spPr>
        <p:txBody>
          <a:bodyPr wrap="square" lIns="0" tIns="0" rIns="0" bIns="0" rtlCol="0" anchor="ctr"/>
          <a:lstStyle/>
          <a:p>
            <a:pPr algn="ctr" indent="0" marL="0">
              <a:buNone/>
            </a:pPr>
            <a:r>
              <a:rPr lang="en-US" sz="900" dirty="0">
                <a:solidFill>
                  <a:srgbClr val="8A9095"/>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640080" y="274320"/>
            <a:ext cx="5486400" cy="228600"/>
          </a:xfrm>
          <a:prstGeom prst="rect">
            <a:avLst/>
          </a:prstGeom>
          <a:noFill/>
          <a:ln/>
        </p:spPr>
        <p:txBody>
          <a:bodyPr wrap="square" lIns="0" tIns="0" rIns="0" bIns="0" rtlCol="0" anchor="ctr"/>
          <a:lstStyle/>
          <a:p>
            <a:pPr indent="0" marL="0">
              <a:buNone/>
            </a:pPr>
            <a:r>
              <a:rPr lang="en-US" sz="900" b="1" spc="300" kern="0" dirty="0">
                <a:solidFill>
                  <a:srgbClr val="74787C"/>
                </a:solidFill>
                <a:latin typeface="Calibri" pitchFamily="34" charset="0"/>
                <a:ea typeface="Calibri" pitchFamily="34" charset="-122"/>
                <a:cs typeface="Calibri" pitchFamily="34" charset="-120"/>
              </a:rPr>
              <a:t>THE PRODUCT</a:t>
            </a:r>
            <a:endParaRPr lang="en-US" sz="900" dirty="0"/>
          </a:p>
        </p:txBody>
      </p:sp>
      <p:sp>
        <p:nvSpPr>
          <p:cNvPr id="3" name="Text 1"/>
          <p:cNvSpPr/>
          <p:nvPr/>
        </p:nvSpPr>
        <p:spPr>
          <a:xfrm>
            <a:off x="640080" y="685800"/>
            <a:ext cx="7863840" cy="969264"/>
          </a:xfrm>
          <a:prstGeom prst="rect">
            <a:avLst/>
          </a:prstGeom>
          <a:noFill/>
          <a:ln/>
        </p:spPr>
        <p:txBody>
          <a:bodyPr wrap="square" lIns="0" tIns="0" rIns="0" bIns="0" rtlCol="0" anchor="t"/>
          <a:lstStyle/>
          <a:p>
            <a:pPr indent="0" marL="0">
              <a:buNone/>
            </a:pPr>
            <a:r>
              <a:rPr lang="en-US" sz="2800" b="1" dirty="0">
                <a:solidFill>
                  <a:srgbClr val="2D3436"/>
                </a:solidFill>
                <a:latin typeface="Georgia" pitchFamily="34" charset="0"/>
                <a:ea typeface="Georgia" pitchFamily="34" charset="-122"/>
                <a:cs typeface="Georgia" pitchFamily="34" charset="-120"/>
              </a:rPr>
              <a:t>A deck of cards. Right to finish it, left to send it back.</a:t>
            </a:r>
            <a:endParaRPr lang="en-US" sz="2800" dirty="0"/>
          </a:p>
        </p:txBody>
      </p:sp>
      <p:sp>
        <p:nvSpPr>
          <p:cNvPr id="4" name="Shape 2"/>
          <p:cNvSpPr/>
          <p:nvPr/>
        </p:nvSpPr>
        <p:spPr>
          <a:xfrm>
            <a:off x="640080" y="1801368"/>
            <a:ext cx="3977640" cy="2203704"/>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5" name="Shape 3"/>
          <p:cNvSpPr/>
          <p:nvPr/>
        </p:nvSpPr>
        <p:spPr>
          <a:xfrm>
            <a:off x="640080" y="1801368"/>
            <a:ext cx="64008" cy="2203704"/>
          </a:xfrm>
          <a:prstGeom prst="rect">
            <a:avLst/>
          </a:prstGeom>
          <a:solidFill>
            <a:srgbClr val="F35343"/>
          </a:solidFill>
          <a:ln/>
        </p:spPr>
      </p:sp>
      <p:pic>
        <p:nvPicPr>
          <p:cNvPr id="6" name="Image 0" descr="preencoded.png">    </p:cNvPr>
          <p:cNvPicPr>
            <a:picLocks noChangeAspect="1"/>
          </p:cNvPicPr>
          <p:nvPr/>
        </p:nvPicPr>
        <p:blipFill>
          <a:blip r:embed="rId1"/>
          <a:stretch>
            <a:fillRect/>
          </a:stretch>
        </p:blipFill>
        <p:spPr>
          <a:xfrm>
            <a:off x="868680" y="1947672"/>
            <a:ext cx="146304" cy="146304"/>
          </a:xfrm>
          <a:prstGeom prst="rect">
            <a:avLst/>
          </a:prstGeom>
        </p:spPr>
      </p:pic>
      <p:sp>
        <p:nvSpPr>
          <p:cNvPr id="7" name="Text 4"/>
          <p:cNvSpPr/>
          <p:nvPr/>
        </p:nvSpPr>
        <p:spPr>
          <a:xfrm>
            <a:off x="1115568" y="1920240"/>
            <a:ext cx="3401568" cy="667512"/>
          </a:xfrm>
          <a:prstGeom prst="rect">
            <a:avLst/>
          </a:prstGeom>
          <a:noFill/>
          <a:ln/>
        </p:spPr>
        <p:txBody>
          <a:bodyPr wrap="square" lIns="0" tIns="0" rIns="0" bIns="0" rtlCol="0" anchor="t"/>
          <a:lstStyle/>
          <a:p>
            <a:pPr indent="0" marL="0">
              <a:buNone/>
            </a:pPr>
            <a:r>
              <a:rPr lang="en-US" sz="1200" dirty="0">
                <a:solidFill>
                  <a:srgbClr val="2D3436"/>
                </a:solidFill>
                <a:latin typeface="Calibri" pitchFamily="34" charset="0"/>
                <a:ea typeface="Calibri" pitchFamily="34" charset="-122"/>
                <a:cs typeface="Calibri" pitchFamily="34" charset="-120"/>
              </a:rPr>
              <a:t>Swipe right to complete, left to defer — the card drops to the bottom and the next one is already up</a:t>
            </a:r>
            <a:endParaRPr lang="en-US" sz="1200" dirty="0"/>
          </a:p>
        </p:txBody>
      </p:sp>
      <p:pic>
        <p:nvPicPr>
          <p:cNvPr id="8" name="Image 1" descr="preencoded.png">    </p:cNvPr>
          <p:cNvPicPr>
            <a:picLocks noChangeAspect="1"/>
          </p:cNvPicPr>
          <p:nvPr/>
        </p:nvPicPr>
        <p:blipFill>
          <a:blip r:embed="rId2"/>
          <a:stretch>
            <a:fillRect/>
          </a:stretch>
        </p:blipFill>
        <p:spPr>
          <a:xfrm>
            <a:off x="868680" y="2743200"/>
            <a:ext cx="146304" cy="146304"/>
          </a:xfrm>
          <a:prstGeom prst="rect">
            <a:avLst/>
          </a:prstGeom>
        </p:spPr>
      </p:pic>
      <p:sp>
        <p:nvSpPr>
          <p:cNvPr id="9" name="Text 5"/>
          <p:cNvSpPr/>
          <p:nvPr/>
        </p:nvSpPr>
        <p:spPr>
          <a:xfrm>
            <a:off x="1115568" y="2715768"/>
            <a:ext cx="3401568" cy="457200"/>
          </a:xfrm>
          <a:prstGeom prst="rect">
            <a:avLst/>
          </a:prstGeom>
          <a:noFill/>
          <a:ln/>
        </p:spPr>
        <p:txBody>
          <a:bodyPr wrap="square" lIns="0" tIns="0" rIns="0" bIns="0" rtlCol="0" anchor="t"/>
          <a:lstStyle/>
          <a:p>
            <a:pPr indent="0" marL="0">
              <a:buNone/>
            </a:pPr>
            <a:r>
              <a:rPr lang="en-US" sz="1200" dirty="0">
                <a:solidFill>
                  <a:srgbClr val="2D3436"/>
                </a:solidFill>
                <a:latin typeface="Calibri" pitchFamily="34" charset="0"/>
                <a:ea typeface="Calibri" pitchFamily="34" charset="-122"/>
                <a:cs typeface="Calibri" pitchFamily="34" charset="-120"/>
              </a:rPr>
              <a:t>Every card's interior is another deck, so subtasks work identically at any depth</a:t>
            </a:r>
            <a:endParaRPr lang="en-US" sz="1200" dirty="0"/>
          </a:p>
        </p:txBody>
      </p:sp>
      <p:pic>
        <p:nvPicPr>
          <p:cNvPr id="10" name="Image 2" descr="preencoded.png">    </p:cNvPr>
          <p:cNvPicPr>
            <a:picLocks noChangeAspect="1"/>
          </p:cNvPicPr>
          <p:nvPr/>
        </p:nvPicPr>
        <p:blipFill>
          <a:blip r:embed="rId3"/>
          <a:stretch>
            <a:fillRect/>
          </a:stretch>
        </p:blipFill>
        <p:spPr>
          <a:xfrm>
            <a:off x="868680" y="3328416"/>
            <a:ext cx="146304" cy="146304"/>
          </a:xfrm>
          <a:prstGeom prst="rect">
            <a:avLst/>
          </a:prstGeom>
        </p:spPr>
      </p:pic>
      <p:sp>
        <p:nvSpPr>
          <p:cNvPr id="11" name="Text 6"/>
          <p:cNvSpPr/>
          <p:nvPr/>
        </p:nvSpPr>
        <p:spPr>
          <a:xfrm>
            <a:off x="1115568" y="3300984"/>
            <a:ext cx="3401568" cy="457200"/>
          </a:xfrm>
          <a:prstGeom prst="rect">
            <a:avLst/>
          </a:prstGeom>
          <a:noFill/>
          <a:ln/>
        </p:spPr>
        <p:txBody>
          <a:bodyPr wrap="square" lIns="0" tIns="0" rIns="0" bIns="0" rtlCol="0" anchor="t"/>
          <a:lstStyle/>
          <a:p>
            <a:pPr indent="0" marL="0">
              <a:buNone/>
            </a:pPr>
            <a:r>
              <a:rPr lang="en-US" sz="1200" dirty="0">
                <a:solidFill>
                  <a:srgbClr val="2D3436"/>
                </a:solidFill>
                <a:latin typeface="Calibri" pitchFamily="34" charset="0"/>
                <a:ea typeface="Calibri" pitchFamily="34" charset="-122"/>
                <a:cs typeface="Calibri" pitchFamily="34" charset="-120"/>
              </a:rPr>
              <a:t>Local-first: tasks live on your device. No account, no tracking, works offline</a:t>
            </a:r>
            <a:endParaRPr lang="en-US" sz="1200" dirty="0"/>
          </a:p>
        </p:txBody>
      </p:sp>
      <p:pic>
        <p:nvPicPr>
          <p:cNvPr id="12" name="Image 3" descr="One Job multi-deck canvas showing decks for life, health, songs, and projects">    </p:cNvPr>
          <p:cNvPicPr>
            <a:picLocks noChangeAspect="1"/>
          </p:cNvPicPr>
          <p:nvPr/>
        </p:nvPicPr>
        <p:blipFill>
          <a:blip r:embed="rId4"/>
          <a:stretch>
            <a:fillRect/>
          </a:stretch>
        </p:blipFill>
        <p:spPr>
          <a:xfrm>
            <a:off x="4800600" y="1801368"/>
            <a:ext cx="3977640" cy="2654843"/>
          </a:xfrm>
          <a:prstGeom prst="rect">
            <a:avLst/>
          </a:prstGeom>
        </p:spPr>
      </p:pic>
      <p:sp>
        <p:nvSpPr>
          <p:cNvPr id="13" name="Text 7"/>
          <p:cNvSpPr/>
          <p:nvPr/>
        </p:nvSpPr>
        <p:spPr>
          <a:xfrm>
            <a:off x="4800600" y="4511075"/>
            <a:ext cx="3977640" cy="219456"/>
          </a:xfrm>
          <a:prstGeom prst="rect">
            <a:avLst/>
          </a:prstGeom>
          <a:noFill/>
          <a:ln/>
        </p:spPr>
        <p:txBody>
          <a:bodyPr wrap="square" lIns="0" tIns="0" rIns="0" bIns="0" rtlCol="0" anchor="ctr"/>
          <a:lstStyle/>
          <a:p>
            <a:pPr algn="ctr" indent="0" marL="0">
              <a:buNone/>
            </a:pPr>
            <a:r>
              <a:rPr lang="en-US" sz="900" i="1" dirty="0">
                <a:solidFill>
                  <a:srgbClr val="74787C"/>
                </a:solidFill>
                <a:latin typeface="Calibri" pitchFamily="34" charset="0"/>
                <a:ea typeface="Calibri" pitchFamily="34" charset="-122"/>
                <a:cs typeface="Calibri" pitchFamily="34" charset="-120"/>
              </a:rPr>
              <a:t>Multiple decks, one top card each</a:t>
            </a:r>
            <a:endParaRPr lang="en-US" sz="900" dirty="0"/>
          </a:p>
        </p:txBody>
      </p:sp>
      <p:sp>
        <p:nvSpPr>
          <p:cNvPr id="14" name="Shape 8"/>
          <p:cNvSpPr/>
          <p:nvPr/>
        </p:nvSpPr>
        <p:spPr>
          <a:xfrm>
            <a:off x="0" y="4983480"/>
            <a:ext cx="9144000" cy="160020"/>
          </a:xfrm>
          <a:prstGeom prst="rect">
            <a:avLst/>
          </a:prstGeom>
          <a:solidFill>
            <a:srgbClr val="F35343"/>
          </a:solidFill>
          <a:ln/>
        </p:spPr>
      </p:sp>
      <p:sp>
        <p:nvSpPr>
          <p:cNvPr id="15" name="Text 9"/>
          <p:cNvSpPr/>
          <p:nvPr/>
        </p:nvSpPr>
        <p:spPr>
          <a:xfrm>
            <a:off x="8458200" y="4709160"/>
            <a:ext cx="457200" cy="228600"/>
          </a:xfrm>
          <a:prstGeom prst="rect">
            <a:avLst/>
          </a:prstGeom>
          <a:noFill/>
          <a:ln/>
        </p:spPr>
        <p:txBody>
          <a:bodyPr wrap="square" lIns="0" tIns="0" rIns="0" bIns="0" rtlCol="0" anchor="ctr"/>
          <a:lstStyle/>
          <a:p>
            <a:pPr algn="ctr" indent="0" marL="0">
              <a:buNone/>
            </a:pPr>
            <a:r>
              <a:rPr lang="en-US" sz="900" dirty="0">
                <a:solidFill>
                  <a:srgbClr val="74787C"/>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F2426"/>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411480"/>
            <a:ext cx="457200" cy="457200"/>
          </a:xfrm>
          <a:prstGeom prst="rect">
            <a:avLst/>
          </a:prstGeom>
        </p:spPr>
      </p:pic>
      <p:sp>
        <p:nvSpPr>
          <p:cNvPr id="3" name="Text 0"/>
          <p:cNvSpPr/>
          <p:nvPr/>
        </p:nvSpPr>
        <p:spPr>
          <a:xfrm>
            <a:off x="640080" y="1051560"/>
            <a:ext cx="7863840" cy="1024128"/>
          </a:xfrm>
          <a:prstGeom prst="rect">
            <a:avLst/>
          </a:prstGeom>
          <a:noFill/>
          <a:ln/>
        </p:spPr>
        <p:txBody>
          <a:bodyPr wrap="square" lIns="0" tIns="0" rIns="0" bIns="0"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We are the inbox for work that needs a human.</a:t>
            </a:r>
            <a:endParaRPr lang="en-US" sz="3000" dirty="0"/>
          </a:p>
        </p:txBody>
      </p:sp>
      <p:sp>
        <p:nvSpPr>
          <p:cNvPr id="4" name="Shape 1"/>
          <p:cNvSpPr/>
          <p:nvPr/>
        </p:nvSpPr>
        <p:spPr>
          <a:xfrm>
            <a:off x="640080" y="2240280"/>
            <a:ext cx="7863840" cy="774192"/>
          </a:xfrm>
          <a:prstGeom prst="rect">
            <a:avLst/>
          </a:prstGeom>
          <a:solidFill>
            <a:srgbClr val="2A3033"/>
          </a:solidFill>
          <a:ln/>
        </p:spPr>
      </p:sp>
      <p:sp>
        <p:nvSpPr>
          <p:cNvPr id="5" name="Shape 2"/>
          <p:cNvSpPr/>
          <p:nvPr/>
        </p:nvSpPr>
        <p:spPr>
          <a:xfrm>
            <a:off x="640080" y="2240280"/>
            <a:ext cx="64008" cy="774192"/>
          </a:xfrm>
          <a:prstGeom prst="rect">
            <a:avLst/>
          </a:prstGeom>
          <a:solidFill>
            <a:srgbClr val="00B894"/>
          </a:solidFill>
          <a:ln/>
        </p:spPr>
      </p:sp>
      <p:sp>
        <p:nvSpPr>
          <p:cNvPr id="6" name="Text 3"/>
          <p:cNvSpPr/>
          <p:nvPr/>
        </p:nvSpPr>
        <p:spPr>
          <a:xfrm>
            <a:off x="914400" y="2240280"/>
            <a:ext cx="1371600" cy="774192"/>
          </a:xfrm>
          <a:prstGeom prst="rect">
            <a:avLst/>
          </a:prstGeom>
          <a:noFill/>
          <a:ln/>
        </p:spPr>
        <p:txBody>
          <a:bodyPr wrap="square" lIns="0" tIns="0" rIns="0" bIns="0" rtlCol="0" anchor="ctr"/>
          <a:lstStyle/>
          <a:p>
            <a:pPr indent="0" marL="0">
              <a:buNone/>
            </a:pPr>
            <a:r>
              <a:rPr lang="en-US" sz="900" b="1" spc="200" kern="0" dirty="0">
                <a:solidFill>
                  <a:srgbClr val="00B894"/>
                </a:solidFill>
                <a:latin typeface="Calibri" pitchFamily="34" charset="0"/>
                <a:ea typeface="Calibri" pitchFamily="34" charset="-122"/>
                <a:cs typeface="Calibri" pitchFamily="34" charset="-120"/>
              </a:rPr>
              <a:t>TODAY</a:t>
            </a:r>
            <a:endParaRPr lang="en-US" sz="900" dirty="0"/>
          </a:p>
        </p:txBody>
      </p:sp>
      <p:sp>
        <p:nvSpPr>
          <p:cNvPr id="7" name="Text 4"/>
          <p:cNvSpPr/>
          <p:nvPr/>
        </p:nvSpPr>
        <p:spPr>
          <a:xfrm>
            <a:off x="2286000" y="2313432"/>
            <a:ext cx="6035040" cy="627888"/>
          </a:xfrm>
          <a:prstGeom prst="rect">
            <a:avLst/>
          </a:prstGeom>
          <a:noFill/>
          <a:ln/>
        </p:spPr>
        <p:txBody>
          <a:bodyPr wrap="square" lIns="0" tIns="0" rIns="0" bIns="0" rtlCol="0" anchor="ctr"/>
          <a:lstStyle/>
          <a:p>
            <a:pPr indent="0" marL="0">
              <a:buNone/>
            </a:pPr>
            <a:r>
              <a:rPr lang="en-US" sz="1200" dirty="0">
                <a:solidFill>
                  <a:srgbClr val="E6ECF2"/>
                </a:solidFill>
                <a:latin typeface="Calibri" pitchFamily="34" charset="0"/>
                <a:ea typeface="Calibri" pitchFamily="34" charset="-122"/>
                <a:cs typeface="Calibri" pitchFamily="34" charset="-120"/>
              </a:rPr>
              <a:t>a standalone deck for your own tasks, on the phone in your hand</a:t>
            </a:r>
            <a:endParaRPr lang="en-US" sz="1200" dirty="0"/>
          </a:p>
        </p:txBody>
      </p:sp>
      <p:sp>
        <p:nvSpPr>
          <p:cNvPr id="8" name="Shape 5"/>
          <p:cNvSpPr/>
          <p:nvPr/>
        </p:nvSpPr>
        <p:spPr>
          <a:xfrm>
            <a:off x="640080" y="3133344"/>
            <a:ext cx="7863840" cy="774192"/>
          </a:xfrm>
          <a:prstGeom prst="rect">
            <a:avLst/>
          </a:prstGeom>
          <a:solidFill>
            <a:srgbClr val="2A3033"/>
          </a:solidFill>
          <a:ln/>
        </p:spPr>
      </p:sp>
      <p:sp>
        <p:nvSpPr>
          <p:cNvPr id="9" name="Shape 6"/>
          <p:cNvSpPr/>
          <p:nvPr/>
        </p:nvSpPr>
        <p:spPr>
          <a:xfrm>
            <a:off x="640080" y="3133344"/>
            <a:ext cx="64008" cy="774192"/>
          </a:xfrm>
          <a:prstGeom prst="rect">
            <a:avLst/>
          </a:prstGeom>
          <a:solidFill>
            <a:srgbClr val="00B894"/>
          </a:solidFill>
          <a:ln/>
        </p:spPr>
      </p:sp>
      <p:sp>
        <p:nvSpPr>
          <p:cNvPr id="10" name="Text 7"/>
          <p:cNvSpPr/>
          <p:nvPr/>
        </p:nvSpPr>
        <p:spPr>
          <a:xfrm>
            <a:off x="914400" y="3133344"/>
            <a:ext cx="1371600" cy="774192"/>
          </a:xfrm>
          <a:prstGeom prst="rect">
            <a:avLst/>
          </a:prstGeom>
          <a:noFill/>
          <a:ln/>
        </p:spPr>
        <p:txBody>
          <a:bodyPr wrap="square" lIns="0" tIns="0" rIns="0" bIns="0" rtlCol="0" anchor="ctr"/>
          <a:lstStyle/>
          <a:p>
            <a:pPr indent="0" marL="0">
              <a:buNone/>
            </a:pPr>
            <a:r>
              <a:rPr lang="en-US" sz="900" b="1" spc="200" kern="0" dirty="0">
                <a:solidFill>
                  <a:srgbClr val="00B894"/>
                </a:solidFill>
                <a:latin typeface="Calibri" pitchFamily="34" charset="0"/>
                <a:ea typeface="Calibri" pitchFamily="34" charset="-122"/>
                <a:cs typeface="Calibri" pitchFamily="34" charset="-120"/>
              </a:rPr>
              <a:t>TOMORROW</a:t>
            </a:r>
            <a:endParaRPr lang="en-US" sz="900" dirty="0"/>
          </a:p>
        </p:txBody>
      </p:sp>
      <p:sp>
        <p:nvSpPr>
          <p:cNvPr id="11" name="Text 8"/>
          <p:cNvSpPr/>
          <p:nvPr/>
        </p:nvSpPr>
        <p:spPr>
          <a:xfrm>
            <a:off x="2286000" y="3206496"/>
            <a:ext cx="6035040" cy="627888"/>
          </a:xfrm>
          <a:prstGeom prst="rect">
            <a:avLst/>
          </a:prstGeom>
          <a:noFill/>
          <a:ln/>
        </p:spPr>
        <p:txBody>
          <a:bodyPr wrap="square" lIns="0" tIns="0" rIns="0" bIns="0" rtlCol="0" anchor="ctr"/>
          <a:lstStyle/>
          <a:p>
            <a:pPr indent="0" marL="0">
              <a:buNone/>
            </a:pPr>
            <a:r>
              <a:rPr lang="en-US" sz="1200" dirty="0">
                <a:solidFill>
                  <a:srgbClr val="E6ECF2"/>
                </a:solidFill>
                <a:latin typeface="Calibri" pitchFamily="34" charset="0"/>
                <a:ea typeface="Calibri" pitchFamily="34" charset="-122"/>
                <a:cs typeface="Calibri" pitchFamily="34" charset="-120"/>
              </a:rPr>
              <a:t>a lens over the task systems you already pay for: your order, your interiors, sync that never flattens them</a:t>
            </a:r>
            <a:endParaRPr lang="en-US" sz="1200" dirty="0"/>
          </a:p>
        </p:txBody>
      </p:sp>
      <p:sp>
        <p:nvSpPr>
          <p:cNvPr id="12" name="Shape 9"/>
          <p:cNvSpPr/>
          <p:nvPr/>
        </p:nvSpPr>
        <p:spPr>
          <a:xfrm>
            <a:off x="640080" y="4026408"/>
            <a:ext cx="7863840" cy="774192"/>
          </a:xfrm>
          <a:prstGeom prst="rect">
            <a:avLst/>
          </a:prstGeom>
          <a:solidFill>
            <a:srgbClr val="2A3033"/>
          </a:solidFill>
          <a:ln/>
        </p:spPr>
      </p:sp>
      <p:sp>
        <p:nvSpPr>
          <p:cNvPr id="13" name="Shape 10"/>
          <p:cNvSpPr/>
          <p:nvPr/>
        </p:nvSpPr>
        <p:spPr>
          <a:xfrm>
            <a:off x="640080" y="4026408"/>
            <a:ext cx="64008" cy="774192"/>
          </a:xfrm>
          <a:prstGeom prst="rect">
            <a:avLst/>
          </a:prstGeom>
          <a:solidFill>
            <a:srgbClr val="00B894"/>
          </a:solidFill>
          <a:ln/>
        </p:spPr>
      </p:sp>
      <p:sp>
        <p:nvSpPr>
          <p:cNvPr id="14" name="Text 11"/>
          <p:cNvSpPr/>
          <p:nvPr/>
        </p:nvSpPr>
        <p:spPr>
          <a:xfrm>
            <a:off x="914400" y="4026408"/>
            <a:ext cx="1371600" cy="774192"/>
          </a:xfrm>
          <a:prstGeom prst="rect">
            <a:avLst/>
          </a:prstGeom>
          <a:noFill/>
          <a:ln/>
        </p:spPr>
        <p:txBody>
          <a:bodyPr wrap="square" lIns="0" tIns="0" rIns="0" bIns="0" rtlCol="0" anchor="ctr"/>
          <a:lstStyle/>
          <a:p>
            <a:pPr indent="0" marL="0">
              <a:buNone/>
            </a:pPr>
            <a:r>
              <a:rPr lang="en-US" sz="900" b="1" spc="200" kern="0" dirty="0">
                <a:solidFill>
                  <a:srgbClr val="00B894"/>
                </a:solidFill>
                <a:latin typeface="Calibri" pitchFamily="34" charset="0"/>
                <a:ea typeface="Calibri" pitchFamily="34" charset="-122"/>
                <a:cs typeface="Calibri" pitchFamily="34" charset="-120"/>
              </a:rPr>
              <a:t>HORIZON</a:t>
            </a:r>
            <a:endParaRPr lang="en-US" sz="900" dirty="0"/>
          </a:p>
        </p:txBody>
      </p:sp>
      <p:sp>
        <p:nvSpPr>
          <p:cNvPr id="15" name="Text 12"/>
          <p:cNvSpPr/>
          <p:nvPr/>
        </p:nvSpPr>
        <p:spPr>
          <a:xfrm>
            <a:off x="2286000" y="4099560"/>
            <a:ext cx="6035040" cy="627888"/>
          </a:xfrm>
          <a:prstGeom prst="rect">
            <a:avLst/>
          </a:prstGeom>
          <a:noFill/>
          <a:ln/>
        </p:spPr>
        <p:txBody>
          <a:bodyPr wrap="square" lIns="0" tIns="0" rIns="0" bIns="0" rtlCol="0" anchor="ctr"/>
          <a:lstStyle/>
          <a:p>
            <a:pPr indent="0" marL="0">
              <a:buNone/>
            </a:pPr>
            <a:r>
              <a:rPr lang="en-US" sz="1200" dirty="0">
                <a:solidFill>
                  <a:srgbClr val="E6ECF2"/>
                </a:solidFill>
                <a:latin typeface="Calibri" pitchFamily="34" charset="0"/>
                <a:ea typeface="Calibri" pitchFamily="34" charset="-122"/>
                <a:cs typeface="Calibri" pitchFamily="34" charset="-120"/>
              </a:rPr>
              <a:t>the client for MCP Tasks: where every agent you run queues work for you, and you answer it one card at a time</a:t>
            </a:r>
            <a:endParaRPr lang="en-US" sz="1200" dirty="0"/>
          </a:p>
        </p:txBody>
      </p:sp>
      <p:sp>
        <p:nvSpPr>
          <p:cNvPr id="16" name="Shape 13"/>
          <p:cNvSpPr/>
          <p:nvPr/>
        </p:nvSpPr>
        <p:spPr>
          <a:xfrm>
            <a:off x="0" y="4983480"/>
            <a:ext cx="9144000" cy="160020"/>
          </a:xfrm>
          <a:prstGeom prst="rect">
            <a:avLst/>
          </a:prstGeom>
          <a:solidFill>
            <a:srgbClr val="F35343"/>
          </a:solidFill>
          <a:ln/>
        </p:spPr>
      </p:sp>
      <p:sp>
        <p:nvSpPr>
          <p:cNvPr id="17" name="Text 14"/>
          <p:cNvSpPr/>
          <p:nvPr/>
        </p:nvSpPr>
        <p:spPr>
          <a:xfrm>
            <a:off x="8458200" y="4709160"/>
            <a:ext cx="457200" cy="228600"/>
          </a:xfrm>
          <a:prstGeom prst="rect">
            <a:avLst/>
          </a:prstGeom>
          <a:noFill/>
          <a:ln/>
        </p:spPr>
        <p:txBody>
          <a:bodyPr wrap="square" lIns="0" tIns="0" rIns="0" bIns="0" rtlCol="0" anchor="ctr"/>
          <a:lstStyle/>
          <a:p>
            <a:pPr algn="ctr" indent="0" marL="0">
              <a:buNone/>
            </a:pPr>
            <a:r>
              <a:rPr lang="en-US" sz="900" dirty="0">
                <a:solidFill>
                  <a:srgbClr val="8A9095"/>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640080" y="274320"/>
            <a:ext cx="5486400" cy="228600"/>
          </a:xfrm>
          <a:prstGeom prst="rect">
            <a:avLst/>
          </a:prstGeom>
          <a:noFill/>
          <a:ln/>
        </p:spPr>
        <p:txBody>
          <a:bodyPr wrap="square" lIns="0" tIns="0" rIns="0" bIns="0" rtlCol="0" anchor="ctr"/>
          <a:lstStyle/>
          <a:p>
            <a:pPr indent="0" marL="0">
              <a:buNone/>
            </a:pPr>
            <a:r>
              <a:rPr lang="en-US" sz="900" b="1" spc="300" kern="0" dirty="0">
                <a:solidFill>
                  <a:srgbClr val="74787C"/>
                </a:solidFill>
                <a:latin typeface="Calibri" pitchFamily="34" charset="0"/>
                <a:ea typeface="Calibri" pitchFamily="34" charset="-122"/>
                <a:cs typeface="Calibri" pitchFamily="34" charset="-120"/>
              </a:rPr>
              <a:t>PROOF OF EXECUTION</a:t>
            </a:r>
            <a:endParaRPr lang="en-US" sz="900" dirty="0"/>
          </a:p>
        </p:txBody>
      </p:sp>
      <p:sp>
        <p:nvSpPr>
          <p:cNvPr id="3" name="Text 1"/>
          <p:cNvSpPr/>
          <p:nvPr/>
        </p:nvSpPr>
        <p:spPr>
          <a:xfrm>
            <a:off x="640080" y="685800"/>
            <a:ext cx="7863840" cy="877824"/>
          </a:xfrm>
          <a:prstGeom prst="rect">
            <a:avLst/>
          </a:prstGeom>
          <a:noFill/>
          <a:ln/>
        </p:spPr>
        <p:txBody>
          <a:bodyPr wrap="square" lIns="0" tIns="0" rIns="0" bIns="0" rtlCol="0" anchor="t"/>
          <a:lstStyle/>
          <a:p>
            <a:pPr indent="0" marL="0">
              <a:buNone/>
            </a:pPr>
            <a:r>
              <a:rPr lang="en-US" sz="2400" b="1" dirty="0">
                <a:solidFill>
                  <a:srgbClr val="2D3436"/>
                </a:solidFill>
                <a:latin typeface="Georgia" pitchFamily="34" charset="0"/>
                <a:ea typeface="Georgia" pitchFamily="34" charset="-122"/>
                <a:cs typeface="Georgia" pitchFamily="34" charset="-120"/>
              </a:rPr>
              <a:t>Eleven months dead. Then thirty-three releases in eight weeks.</a:t>
            </a:r>
            <a:endParaRPr lang="en-US" sz="2400" dirty="0"/>
          </a:p>
        </p:txBody>
      </p:sp>
      <p:sp>
        <p:nvSpPr>
          <p:cNvPr id="4" name="Shape 2"/>
          <p:cNvSpPr/>
          <p:nvPr/>
        </p:nvSpPr>
        <p:spPr>
          <a:xfrm>
            <a:off x="640080" y="1655064"/>
            <a:ext cx="1097280" cy="45720"/>
          </a:xfrm>
          <a:prstGeom prst="rect">
            <a:avLst/>
          </a:prstGeom>
          <a:solidFill>
            <a:srgbClr val="F35343"/>
          </a:solidFill>
          <a:ln/>
        </p:spPr>
      </p:sp>
      <p:sp>
        <p:nvSpPr>
          <p:cNvPr id="5" name="Shape 3"/>
          <p:cNvSpPr/>
          <p:nvPr/>
        </p:nvSpPr>
        <p:spPr>
          <a:xfrm>
            <a:off x="640080" y="1865376"/>
            <a:ext cx="3849624" cy="1110996"/>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6" name="Shape 4"/>
          <p:cNvSpPr/>
          <p:nvPr/>
        </p:nvSpPr>
        <p:spPr>
          <a:xfrm>
            <a:off x="640080" y="1865376"/>
            <a:ext cx="3849624" cy="54864"/>
          </a:xfrm>
          <a:prstGeom prst="rect">
            <a:avLst/>
          </a:prstGeom>
          <a:solidFill>
            <a:srgbClr val="F35343"/>
          </a:solidFill>
          <a:ln/>
        </p:spPr>
      </p:sp>
      <p:sp>
        <p:nvSpPr>
          <p:cNvPr id="7" name="Text 5"/>
          <p:cNvSpPr/>
          <p:nvPr/>
        </p:nvSpPr>
        <p:spPr>
          <a:xfrm>
            <a:off x="859536" y="2048256"/>
            <a:ext cx="3410712" cy="763524"/>
          </a:xfrm>
          <a:prstGeom prst="rect">
            <a:avLst/>
          </a:prstGeom>
          <a:noFill/>
          <a:ln/>
        </p:spPr>
        <p:txBody>
          <a:bodyPr wrap="square" lIns="0" tIns="0" rIns="0" bIns="0" rtlCol="0" anchor="ctr"/>
          <a:lstStyle/>
          <a:p>
            <a:pPr indent="0" marL="0">
              <a:buNone/>
            </a:pPr>
            <a:r>
              <a:rPr lang="en-US" sz="1100" dirty="0">
                <a:solidFill>
                  <a:srgbClr val="2D3436"/>
                </a:solidFill>
                <a:latin typeface="Calibri" pitchFamily="34" charset="0"/>
                <a:ea typeface="Calibri" pitchFamily="34" charset="-122"/>
                <a:cs typeface="Calibri" pitchFamily="34" charset="-120"/>
              </a:rPr>
              <a:t>33 release candidates in 8 weeks, after an 11-month stall. The unlock was an agent, not more founder hours</a:t>
            </a:r>
            <a:endParaRPr lang="en-US" sz="1100" dirty="0"/>
          </a:p>
        </p:txBody>
      </p:sp>
      <p:sp>
        <p:nvSpPr>
          <p:cNvPr id="8" name="Shape 6"/>
          <p:cNvSpPr/>
          <p:nvPr/>
        </p:nvSpPr>
        <p:spPr>
          <a:xfrm>
            <a:off x="4654296" y="1865376"/>
            <a:ext cx="3849624" cy="1110996"/>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9" name="Shape 7"/>
          <p:cNvSpPr/>
          <p:nvPr/>
        </p:nvSpPr>
        <p:spPr>
          <a:xfrm>
            <a:off x="4654296" y="1865376"/>
            <a:ext cx="3849624" cy="54864"/>
          </a:xfrm>
          <a:prstGeom prst="rect">
            <a:avLst/>
          </a:prstGeom>
          <a:solidFill>
            <a:srgbClr val="F35343"/>
          </a:solidFill>
          <a:ln/>
        </p:spPr>
      </p:sp>
      <p:sp>
        <p:nvSpPr>
          <p:cNvPr id="10" name="Text 8"/>
          <p:cNvSpPr/>
          <p:nvPr/>
        </p:nvSpPr>
        <p:spPr>
          <a:xfrm>
            <a:off x="4873752" y="2048256"/>
            <a:ext cx="3410712" cy="763524"/>
          </a:xfrm>
          <a:prstGeom prst="rect">
            <a:avLst/>
          </a:prstGeom>
          <a:noFill/>
          <a:ln/>
        </p:spPr>
        <p:txBody>
          <a:bodyPr wrap="square" lIns="0" tIns="0" rIns="0" bIns="0" rtlCol="0" anchor="ctr"/>
          <a:lstStyle/>
          <a:p>
            <a:pPr indent="0" marL="0">
              <a:buNone/>
            </a:pPr>
            <a:r>
              <a:rPr lang="en-US" sz="1100" dirty="0">
                <a:solidFill>
                  <a:srgbClr val="2D3436"/>
                </a:solidFill>
                <a:latin typeface="Calibri" pitchFamily="34" charset="0"/>
                <a:ea typeface="Calibri" pitchFamily="34" charset="-122"/>
                <a:cs typeface="Calibri" pitchFamily="34" charset="-120"/>
              </a:rPr>
              <a:t>167 tests passing, up 79 in 23 days. Every deploy verified against the live site, not against CI green</a:t>
            </a:r>
            <a:endParaRPr lang="en-US" sz="1100" dirty="0"/>
          </a:p>
        </p:txBody>
      </p:sp>
      <p:sp>
        <p:nvSpPr>
          <p:cNvPr id="11" name="Shape 9"/>
          <p:cNvSpPr/>
          <p:nvPr/>
        </p:nvSpPr>
        <p:spPr>
          <a:xfrm>
            <a:off x="640080" y="3122676"/>
            <a:ext cx="3849624" cy="1110996"/>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2" name="Shape 10"/>
          <p:cNvSpPr/>
          <p:nvPr/>
        </p:nvSpPr>
        <p:spPr>
          <a:xfrm>
            <a:off x="640080" y="3122676"/>
            <a:ext cx="3849624" cy="54864"/>
          </a:xfrm>
          <a:prstGeom prst="rect">
            <a:avLst/>
          </a:prstGeom>
          <a:solidFill>
            <a:srgbClr val="F35343"/>
          </a:solidFill>
          <a:ln/>
        </p:spPr>
      </p:sp>
      <p:sp>
        <p:nvSpPr>
          <p:cNvPr id="13" name="Text 11"/>
          <p:cNvSpPr/>
          <p:nvPr/>
        </p:nvSpPr>
        <p:spPr>
          <a:xfrm>
            <a:off x="859536" y="3305556"/>
            <a:ext cx="3410712" cy="763524"/>
          </a:xfrm>
          <a:prstGeom prst="rect">
            <a:avLst/>
          </a:prstGeom>
          <a:noFill/>
          <a:ln/>
        </p:spPr>
        <p:txBody>
          <a:bodyPr wrap="square" lIns="0" tIns="0" rIns="0" bIns="0" rtlCol="0" anchor="ctr"/>
          <a:lstStyle/>
          <a:p>
            <a:pPr indent="0" marL="0">
              <a:buNone/>
            </a:pPr>
            <a:r>
              <a:rPr lang="en-US" sz="1100" dirty="0">
                <a:solidFill>
                  <a:srgbClr val="2D3436"/>
                </a:solidFill>
                <a:latin typeface="Calibri" pitchFamily="34" charset="0"/>
                <a:ea typeface="Calibri" pitchFamily="34" charset="-122"/>
                <a:cs typeface="Calibri" pitchFamily="34" charset="-120"/>
              </a:rPr>
              <a:t>Lost the founder's own deck once — shipped the fix and a permanent protocol the same morning</a:t>
            </a:r>
            <a:endParaRPr lang="en-US" sz="1100" dirty="0"/>
          </a:p>
        </p:txBody>
      </p:sp>
      <p:sp>
        <p:nvSpPr>
          <p:cNvPr id="14" name="Shape 12"/>
          <p:cNvSpPr/>
          <p:nvPr/>
        </p:nvSpPr>
        <p:spPr>
          <a:xfrm>
            <a:off x="4654296" y="3122676"/>
            <a:ext cx="3849624" cy="1110996"/>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5" name="Shape 13"/>
          <p:cNvSpPr/>
          <p:nvPr/>
        </p:nvSpPr>
        <p:spPr>
          <a:xfrm>
            <a:off x="4654296" y="3122676"/>
            <a:ext cx="3849624" cy="54864"/>
          </a:xfrm>
          <a:prstGeom prst="rect">
            <a:avLst/>
          </a:prstGeom>
          <a:solidFill>
            <a:srgbClr val="F35343"/>
          </a:solidFill>
          <a:ln/>
        </p:spPr>
      </p:sp>
      <p:sp>
        <p:nvSpPr>
          <p:cNvPr id="16" name="Text 14"/>
          <p:cNvSpPr/>
          <p:nvPr/>
        </p:nvSpPr>
        <p:spPr>
          <a:xfrm>
            <a:off x="4873752" y="3305556"/>
            <a:ext cx="3410712" cy="763524"/>
          </a:xfrm>
          <a:prstGeom prst="rect">
            <a:avLst/>
          </a:prstGeom>
          <a:noFill/>
          <a:ln/>
        </p:spPr>
        <p:txBody>
          <a:bodyPr wrap="square" lIns="0" tIns="0" rIns="0" bIns="0" rtlCol="0" anchor="ctr"/>
          <a:lstStyle/>
          <a:p>
            <a:pPr indent="0" marL="0">
              <a:buNone/>
            </a:pPr>
            <a:r>
              <a:rPr lang="en-US" sz="1100" dirty="0">
                <a:solidFill>
                  <a:srgbClr val="2D3436"/>
                </a:solidFill>
                <a:latin typeface="Calibri" pitchFamily="34" charset="0"/>
                <a:ea typeface="Calibri" pitchFamily="34" charset="-122"/>
                <a:cs typeface="Calibri" pitchFamily="34" charset="-120"/>
              </a:rPr>
              <a:t>Live on the web, build 32 on TestFlight, submission prepared. First tester, unprompted: "The experience is beautiful"</a:t>
            </a:r>
            <a:endParaRPr lang="en-US" sz="1100" dirty="0"/>
          </a:p>
        </p:txBody>
      </p:sp>
      <p:sp>
        <p:nvSpPr>
          <p:cNvPr id="17" name="Shape 15"/>
          <p:cNvSpPr/>
          <p:nvPr/>
        </p:nvSpPr>
        <p:spPr>
          <a:xfrm>
            <a:off x="640080" y="4379976"/>
            <a:ext cx="7863840" cy="420624"/>
          </a:xfrm>
          <a:prstGeom prst="rect">
            <a:avLst/>
          </a:prstGeom>
          <a:solidFill>
            <a:srgbClr val="2D3436"/>
          </a:solidFill>
          <a:ln/>
        </p:spPr>
      </p:sp>
      <p:sp>
        <p:nvSpPr>
          <p:cNvPr id="18" name="Text 16"/>
          <p:cNvSpPr/>
          <p:nvPr/>
        </p:nvSpPr>
        <p:spPr>
          <a:xfrm>
            <a:off x="868680" y="4379976"/>
            <a:ext cx="7406640" cy="420624"/>
          </a:xfrm>
          <a:prstGeom prst="rect">
            <a:avLst/>
          </a:prstGeom>
          <a:noFill/>
          <a:ln/>
        </p:spPr>
        <p:txBody>
          <a:bodyPr wrap="square" lIns="0" tIns="0" rIns="0" bIns="0" rtlCol="0" anchor="ctr"/>
          <a:lstStyle/>
          <a:p>
            <a:pPr indent="0" marL="0">
              <a:buNone/>
            </a:pPr>
            <a:r>
              <a:rPr lang="en-US" sz="1200" i="1" dirty="0">
                <a:solidFill>
                  <a:srgbClr val="E6ECF2"/>
                </a:solidFill>
                <a:latin typeface="Calibri" pitchFamily="34" charset="0"/>
                <a:ea typeface="Calibri" pitchFamily="34" charset="-122"/>
                <a:cs typeface="Calibri" pitchFamily="34" charset="-120"/>
              </a:rPr>
              <a:t>Not yet proven: that anyone beyond one founder and one tester wants this.</a:t>
            </a:r>
            <a:endParaRPr lang="en-US" sz="1200" dirty="0"/>
          </a:p>
        </p:txBody>
      </p:sp>
      <p:sp>
        <p:nvSpPr>
          <p:cNvPr id="19" name="Shape 17"/>
          <p:cNvSpPr/>
          <p:nvPr/>
        </p:nvSpPr>
        <p:spPr>
          <a:xfrm>
            <a:off x="0" y="4983480"/>
            <a:ext cx="9144000" cy="160020"/>
          </a:xfrm>
          <a:prstGeom prst="rect">
            <a:avLst/>
          </a:prstGeom>
          <a:solidFill>
            <a:srgbClr val="F35343"/>
          </a:solidFill>
          <a:ln/>
        </p:spPr>
      </p:sp>
      <p:sp>
        <p:nvSpPr>
          <p:cNvPr id="20" name="Text 18"/>
          <p:cNvSpPr/>
          <p:nvPr/>
        </p:nvSpPr>
        <p:spPr>
          <a:xfrm>
            <a:off x="8458200" y="4709160"/>
            <a:ext cx="457200" cy="228600"/>
          </a:xfrm>
          <a:prstGeom prst="rect">
            <a:avLst/>
          </a:prstGeom>
          <a:noFill/>
          <a:ln/>
        </p:spPr>
        <p:txBody>
          <a:bodyPr wrap="square" lIns="0" tIns="0" rIns="0" bIns="0" rtlCol="0" anchor="ctr"/>
          <a:lstStyle/>
          <a:p>
            <a:pPr algn="ctr" indent="0" marL="0">
              <a:buNone/>
            </a:pPr>
            <a:r>
              <a:rPr lang="en-US" sz="900" dirty="0">
                <a:solidFill>
                  <a:srgbClr val="74787C"/>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640080" y="274320"/>
            <a:ext cx="5486400" cy="228600"/>
          </a:xfrm>
          <a:prstGeom prst="rect">
            <a:avLst/>
          </a:prstGeom>
          <a:noFill/>
          <a:ln/>
        </p:spPr>
        <p:txBody>
          <a:bodyPr wrap="square" lIns="0" tIns="0" rIns="0" bIns="0" rtlCol="0" anchor="ctr"/>
          <a:lstStyle/>
          <a:p>
            <a:pPr indent="0" marL="0">
              <a:buNone/>
            </a:pPr>
            <a:r>
              <a:rPr lang="en-US" sz="900" b="1" spc="300" kern="0" dirty="0">
                <a:solidFill>
                  <a:srgbClr val="74787C"/>
                </a:solidFill>
                <a:latin typeface="Calibri" pitchFamily="34" charset="0"/>
                <a:ea typeface="Calibri" pitchFamily="34" charset="-122"/>
                <a:cs typeface="Calibri" pitchFamily="34" charset="-120"/>
              </a:rPr>
              <a:t>WHY WE WIN</a:t>
            </a:r>
            <a:endParaRPr lang="en-US" sz="900" dirty="0"/>
          </a:p>
        </p:txBody>
      </p:sp>
      <p:sp>
        <p:nvSpPr>
          <p:cNvPr id="3" name="Text 1"/>
          <p:cNvSpPr/>
          <p:nvPr/>
        </p:nvSpPr>
        <p:spPr>
          <a:xfrm>
            <a:off x="640080" y="685800"/>
            <a:ext cx="7863840" cy="1024128"/>
          </a:xfrm>
          <a:prstGeom prst="rect">
            <a:avLst/>
          </a:prstGeom>
          <a:noFill/>
          <a:ln/>
        </p:spPr>
        <p:txBody>
          <a:bodyPr wrap="square" lIns="0" tIns="0" rIns="0" bIns="0" rtlCol="0" anchor="t"/>
          <a:lstStyle/>
          <a:p>
            <a:pPr indent="0" marL="0">
              <a:buNone/>
            </a:pPr>
            <a:r>
              <a:rPr lang="en-US" sz="3000" b="1" dirty="0">
                <a:solidFill>
                  <a:srgbClr val="2D3436"/>
                </a:solidFill>
                <a:latin typeface="Georgia" pitchFamily="34" charset="0"/>
                <a:ea typeface="Georgia" pitchFamily="34" charset="-122"/>
                <a:cs typeface="Georgia" pitchFamily="34" charset="-120"/>
              </a:rPr>
              <a:t>Others compete to own your list. We own the moment you choose.</a:t>
            </a:r>
            <a:endParaRPr lang="en-US" sz="3000" dirty="0"/>
          </a:p>
        </p:txBody>
      </p:sp>
      <p:sp>
        <p:nvSpPr>
          <p:cNvPr id="4" name="Shape 2"/>
          <p:cNvSpPr/>
          <p:nvPr/>
        </p:nvSpPr>
        <p:spPr>
          <a:xfrm>
            <a:off x="640080" y="1819656"/>
            <a:ext cx="1097280" cy="45720"/>
          </a:xfrm>
          <a:prstGeom prst="rect">
            <a:avLst/>
          </a:prstGeom>
          <a:solidFill>
            <a:srgbClr val="F35343"/>
          </a:solidFill>
          <a:ln/>
        </p:spPr>
      </p:sp>
      <p:sp>
        <p:nvSpPr>
          <p:cNvPr id="5" name="Shape 3"/>
          <p:cNvSpPr/>
          <p:nvPr/>
        </p:nvSpPr>
        <p:spPr>
          <a:xfrm>
            <a:off x="640080" y="2066544"/>
            <a:ext cx="7863840" cy="1024128"/>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6" name="Shape 4"/>
          <p:cNvSpPr/>
          <p:nvPr/>
        </p:nvSpPr>
        <p:spPr>
          <a:xfrm>
            <a:off x="640080" y="2066544"/>
            <a:ext cx="64008" cy="1024128"/>
          </a:xfrm>
          <a:prstGeom prst="rect">
            <a:avLst/>
          </a:prstGeom>
          <a:solidFill>
            <a:srgbClr val="F35343"/>
          </a:solidFill>
          <a:ln/>
        </p:spPr>
      </p:sp>
      <p:sp>
        <p:nvSpPr>
          <p:cNvPr id="7" name="Text 5"/>
          <p:cNvSpPr/>
          <p:nvPr/>
        </p:nvSpPr>
        <p:spPr>
          <a:xfrm>
            <a:off x="960120" y="2066544"/>
            <a:ext cx="7315200" cy="1024128"/>
          </a:xfrm>
          <a:prstGeom prst="rect">
            <a:avLst/>
          </a:prstGeom>
          <a:noFill/>
          <a:ln/>
        </p:spPr>
        <p:txBody>
          <a:bodyPr wrap="square" lIns="0" tIns="0" rIns="0" bIns="0" rtlCol="0" anchor="ctr"/>
          <a:lstStyle/>
          <a:p>
            <a:pPr indent="0" marL="0">
              <a:buNone/>
            </a:pPr>
            <a:r>
              <a:rPr lang="en-US" sz="1900" b="1" dirty="0">
                <a:solidFill>
                  <a:srgbClr val="2D3436"/>
                </a:solidFill>
                <a:latin typeface="Georgia" pitchFamily="34" charset="0"/>
                <a:ea typeface="Georgia" pitchFamily="34" charset="-122"/>
                <a:cs typeface="Georgia" pitchFamily="34" charset="-120"/>
              </a:rPr>
              <a:t>Others build a better database. We build a better decision.</a:t>
            </a:r>
            <a:endParaRPr lang="en-US" sz="1900" dirty="0"/>
          </a:p>
        </p:txBody>
      </p:sp>
      <p:sp>
        <p:nvSpPr>
          <p:cNvPr id="8" name="Shape 6"/>
          <p:cNvSpPr/>
          <p:nvPr/>
        </p:nvSpPr>
        <p:spPr>
          <a:xfrm>
            <a:off x="640080" y="3273552"/>
            <a:ext cx="7863840" cy="1527048"/>
          </a:xfrm>
          <a:prstGeom prst="rect">
            <a:avLst/>
          </a:prstGeom>
          <a:solidFill>
            <a:srgbClr val="2D3436"/>
          </a:solidFill>
          <a:ln/>
        </p:spPr>
      </p:sp>
      <p:pic>
        <p:nvPicPr>
          <p:cNvPr id="9" name="Image 0" descr="preencoded.png">    </p:cNvPr>
          <p:cNvPicPr>
            <a:picLocks noChangeAspect="1"/>
          </p:cNvPicPr>
          <p:nvPr/>
        </p:nvPicPr>
        <p:blipFill>
          <a:blip r:embed="rId1"/>
          <a:stretch>
            <a:fillRect/>
          </a:stretch>
        </p:blipFill>
        <p:spPr>
          <a:xfrm>
            <a:off x="896112" y="3474720"/>
            <a:ext cx="256032" cy="256032"/>
          </a:xfrm>
          <a:prstGeom prst="rect">
            <a:avLst/>
          </a:prstGeom>
        </p:spPr>
      </p:pic>
      <p:sp>
        <p:nvSpPr>
          <p:cNvPr id="10" name="Text 7"/>
          <p:cNvSpPr/>
          <p:nvPr/>
        </p:nvSpPr>
        <p:spPr>
          <a:xfrm>
            <a:off x="1371600" y="3438144"/>
            <a:ext cx="6675120" cy="1197864"/>
          </a:xfrm>
          <a:prstGeom prst="rect">
            <a:avLst/>
          </a:prstGeom>
          <a:noFill/>
          <a:ln/>
        </p:spPr>
        <p:txBody>
          <a:bodyPr wrap="square" lIns="0" tIns="0" rIns="0" bIns="0" rtlCol="0" anchor="t"/>
          <a:lstStyle/>
          <a:p>
            <a:pPr indent="0" marL="0">
              <a:lnSpc>
                <a:spcPct val="115000"/>
              </a:lnSpc>
              <a:buNone/>
            </a:pPr>
            <a:r>
              <a:rPr lang="en-US" sz="1300" dirty="0">
                <a:solidFill>
                  <a:srgbClr val="E6ECF2"/>
                </a:solidFill>
                <a:latin typeface="Calibri" pitchFamily="34" charset="0"/>
                <a:ea typeface="Calibri" pitchFamily="34" charset="-122"/>
                <a:cs typeface="Calibri" pitchFamily="34" charset="-120"/>
              </a:rPr>
              <a:t>The world's tasks already live in Asana, Jira, and Todoist — sunk cost, and not going anywhere. One Job doesn't compete with those systems, it faces them. The list stays exactly where it is; we become the surface where a person decides what to do right now, and the one place anything — a teammate, a system, an autonomous agent — can hand them a single thing at a time, with its provenance attached.</a:t>
            </a:r>
            <a:endParaRPr lang="en-US" sz="1300" dirty="0"/>
          </a:p>
        </p:txBody>
      </p:sp>
      <p:sp>
        <p:nvSpPr>
          <p:cNvPr id="11" name="Shape 8"/>
          <p:cNvSpPr/>
          <p:nvPr/>
        </p:nvSpPr>
        <p:spPr>
          <a:xfrm>
            <a:off x="0" y="4983480"/>
            <a:ext cx="9144000" cy="160020"/>
          </a:xfrm>
          <a:prstGeom prst="rect">
            <a:avLst/>
          </a:prstGeom>
          <a:solidFill>
            <a:srgbClr val="F35343"/>
          </a:solidFill>
          <a:ln/>
        </p:spPr>
      </p:sp>
      <p:sp>
        <p:nvSpPr>
          <p:cNvPr id="12" name="Text 9"/>
          <p:cNvSpPr/>
          <p:nvPr/>
        </p:nvSpPr>
        <p:spPr>
          <a:xfrm>
            <a:off x="8458200" y="4709160"/>
            <a:ext cx="457200" cy="228600"/>
          </a:xfrm>
          <a:prstGeom prst="rect">
            <a:avLst/>
          </a:prstGeom>
          <a:noFill/>
          <a:ln/>
        </p:spPr>
        <p:txBody>
          <a:bodyPr wrap="square" lIns="0" tIns="0" rIns="0" bIns="0" rtlCol="0" anchor="ctr"/>
          <a:lstStyle/>
          <a:p>
            <a:pPr algn="ctr" indent="0" marL="0">
              <a:buNone/>
            </a:pPr>
            <a:r>
              <a:rPr lang="en-US" sz="900" dirty="0">
                <a:solidFill>
                  <a:srgbClr val="74787C"/>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F2426"/>
        </a:solidFill>
      </p:bgPr>
    </p:bg>
    <p:spTree>
      <p:nvGrpSpPr>
        <p:cNvPr id="1" name=""/>
        <p:cNvGrpSpPr/>
        <p:nvPr/>
      </p:nvGrpSpPr>
      <p:grpSpPr>
        <a:xfrm>
          <a:off x="0" y="0"/>
          <a:ext cx="0" cy="0"/>
          <a:chOff x="0" y="0"/>
          <a:chExt cx="0" cy="0"/>
        </a:xfrm>
      </p:grpSpPr>
      <p:sp>
        <p:nvSpPr>
          <p:cNvPr id="2" name="Text 0"/>
          <p:cNvSpPr/>
          <p:nvPr/>
        </p:nvSpPr>
        <p:spPr>
          <a:xfrm>
            <a:off x="640080" y="292608"/>
            <a:ext cx="5486400" cy="228600"/>
          </a:xfrm>
          <a:prstGeom prst="rect">
            <a:avLst/>
          </a:prstGeom>
          <a:noFill/>
          <a:ln/>
        </p:spPr>
        <p:txBody>
          <a:bodyPr wrap="square" lIns="0" tIns="0" rIns="0" bIns="0" rtlCol="0" anchor="ctr"/>
          <a:lstStyle/>
          <a:p>
            <a:pPr indent="0" marL="0">
              <a:buNone/>
            </a:pPr>
            <a:r>
              <a:rPr lang="en-US" sz="900" b="1" spc="300" kern="0" dirty="0">
                <a:solidFill>
                  <a:srgbClr val="8A9095"/>
                </a:solidFill>
                <a:latin typeface="Calibri" pitchFamily="34" charset="0"/>
                <a:ea typeface="Calibri" pitchFamily="34" charset="-122"/>
                <a:cs typeface="Calibri" pitchFamily="34" charset="-120"/>
              </a:rPr>
              <a:t>TAILWINDS</a:t>
            </a:r>
            <a:endParaRPr lang="en-US" sz="900" dirty="0"/>
          </a:p>
        </p:txBody>
      </p:sp>
      <p:sp>
        <p:nvSpPr>
          <p:cNvPr id="3" name="Text 1"/>
          <p:cNvSpPr/>
          <p:nvPr/>
        </p:nvSpPr>
        <p:spPr>
          <a:xfrm>
            <a:off x="640080" y="621792"/>
            <a:ext cx="7863840" cy="658368"/>
          </a:xfrm>
          <a:prstGeom prst="rect">
            <a:avLst/>
          </a:prstGeom>
          <a:noFill/>
          <a:ln/>
        </p:spPr>
        <p:txBody>
          <a:bodyPr wrap="square" lIns="0" tIns="0" rIns="0" bIns="0" rtlCol="0" anchor="t"/>
          <a:lstStyle/>
          <a:p>
            <a:pPr indent="0" marL="0">
              <a:buNone/>
            </a:pPr>
            <a:r>
              <a:rPr lang="en-US" sz="3200" b="1" dirty="0">
                <a:solidFill>
                  <a:srgbClr val="FFFFFF"/>
                </a:solidFill>
                <a:latin typeface="Georgia" pitchFamily="34" charset="0"/>
                <a:ea typeface="Georgia" pitchFamily="34" charset="-122"/>
                <a:cs typeface="Georgia" pitchFamily="34" charset="-120"/>
              </a:rPr>
              <a:t>The waves we're riding.</a:t>
            </a:r>
            <a:endParaRPr lang="en-US" sz="3200" dirty="0"/>
          </a:p>
        </p:txBody>
      </p:sp>
      <p:sp>
        <p:nvSpPr>
          <p:cNvPr id="4" name="Shape 2"/>
          <p:cNvSpPr/>
          <p:nvPr/>
        </p:nvSpPr>
        <p:spPr>
          <a:xfrm>
            <a:off x="640080" y="1481328"/>
            <a:ext cx="7863840" cy="1014984"/>
          </a:xfrm>
          <a:prstGeom prst="rect">
            <a:avLst/>
          </a:prstGeom>
          <a:solidFill>
            <a:srgbClr val="2A3033"/>
          </a:solidFill>
          <a:ln/>
        </p:spPr>
      </p:sp>
      <p:sp>
        <p:nvSpPr>
          <p:cNvPr id="5" name="Shape 3"/>
          <p:cNvSpPr/>
          <p:nvPr/>
        </p:nvSpPr>
        <p:spPr>
          <a:xfrm>
            <a:off x="640080" y="1481328"/>
            <a:ext cx="64008" cy="1014984"/>
          </a:xfrm>
          <a:prstGeom prst="rect">
            <a:avLst/>
          </a:prstGeom>
          <a:solidFill>
            <a:srgbClr val="F35343"/>
          </a:solidFill>
          <a:ln/>
        </p:spPr>
      </p:sp>
      <p:pic>
        <p:nvPicPr>
          <p:cNvPr id="6" name="Image 0" descr="preencoded.png">    </p:cNvPr>
          <p:cNvPicPr>
            <a:picLocks noChangeAspect="1"/>
          </p:cNvPicPr>
          <p:nvPr/>
        </p:nvPicPr>
        <p:blipFill>
          <a:blip r:embed="rId1"/>
          <a:stretch>
            <a:fillRect/>
          </a:stretch>
        </p:blipFill>
        <p:spPr>
          <a:xfrm>
            <a:off x="932688" y="1879092"/>
            <a:ext cx="219456" cy="219456"/>
          </a:xfrm>
          <a:prstGeom prst="rect">
            <a:avLst/>
          </a:prstGeom>
        </p:spPr>
      </p:pic>
      <p:sp>
        <p:nvSpPr>
          <p:cNvPr id="7" name="Text 4"/>
          <p:cNvSpPr/>
          <p:nvPr/>
        </p:nvSpPr>
        <p:spPr>
          <a:xfrm>
            <a:off x="1417320" y="1554480"/>
            <a:ext cx="6858000" cy="868680"/>
          </a:xfrm>
          <a:prstGeom prst="rect">
            <a:avLst/>
          </a:prstGeom>
          <a:noFill/>
          <a:ln/>
        </p:spPr>
        <p:txBody>
          <a:bodyPr wrap="square" lIns="0" tIns="0" rIns="0" bIns="0" rtlCol="0" anchor="ctr"/>
          <a:lstStyle/>
          <a:p>
            <a:pPr indent="0" marL="0">
              <a:buNone/>
            </a:pPr>
            <a:r>
              <a:rPr lang="en-US" sz="1200" dirty="0">
                <a:solidFill>
                  <a:srgbClr val="E6ECF2"/>
                </a:solidFill>
                <a:latin typeface="Calibri" pitchFamily="34" charset="0"/>
                <a:ea typeface="Calibri" pitchFamily="34" charset="-122"/>
                <a:cs typeface="Calibri" pitchFamily="34" charset="-120"/>
              </a:rPr>
              <a:t>Agent volume grew 15x year over year across Microsoft 365 — and 86% of AI users still treat every agent output as a starting point, not an answer</a:t>
            </a:r>
            <a:endParaRPr lang="en-US" sz="1200" dirty="0"/>
          </a:p>
        </p:txBody>
      </p:sp>
      <p:sp>
        <p:nvSpPr>
          <p:cNvPr id="8" name="Shape 5"/>
          <p:cNvSpPr/>
          <p:nvPr/>
        </p:nvSpPr>
        <p:spPr>
          <a:xfrm>
            <a:off x="640080" y="2633472"/>
            <a:ext cx="7863840" cy="1014984"/>
          </a:xfrm>
          <a:prstGeom prst="rect">
            <a:avLst/>
          </a:prstGeom>
          <a:solidFill>
            <a:srgbClr val="2A3033"/>
          </a:solidFill>
          <a:ln/>
        </p:spPr>
      </p:sp>
      <p:sp>
        <p:nvSpPr>
          <p:cNvPr id="9" name="Shape 6"/>
          <p:cNvSpPr/>
          <p:nvPr/>
        </p:nvSpPr>
        <p:spPr>
          <a:xfrm>
            <a:off x="640080" y="2633472"/>
            <a:ext cx="64008" cy="1014984"/>
          </a:xfrm>
          <a:prstGeom prst="rect">
            <a:avLst/>
          </a:prstGeom>
          <a:solidFill>
            <a:srgbClr val="F35343"/>
          </a:solidFill>
          <a:ln/>
        </p:spPr>
      </p:sp>
      <p:pic>
        <p:nvPicPr>
          <p:cNvPr id="10" name="Image 1" descr="preencoded.png">    </p:cNvPr>
          <p:cNvPicPr>
            <a:picLocks noChangeAspect="1"/>
          </p:cNvPicPr>
          <p:nvPr/>
        </p:nvPicPr>
        <p:blipFill>
          <a:blip r:embed="rId2"/>
          <a:stretch>
            <a:fillRect/>
          </a:stretch>
        </p:blipFill>
        <p:spPr>
          <a:xfrm>
            <a:off x="932688" y="3031236"/>
            <a:ext cx="219456" cy="219456"/>
          </a:xfrm>
          <a:prstGeom prst="rect">
            <a:avLst/>
          </a:prstGeom>
        </p:spPr>
      </p:pic>
      <p:sp>
        <p:nvSpPr>
          <p:cNvPr id="11" name="Text 7"/>
          <p:cNvSpPr/>
          <p:nvPr/>
        </p:nvSpPr>
        <p:spPr>
          <a:xfrm>
            <a:off x="1417320" y="2706624"/>
            <a:ext cx="6858000" cy="868680"/>
          </a:xfrm>
          <a:prstGeom prst="rect">
            <a:avLst/>
          </a:prstGeom>
          <a:noFill/>
          <a:ln/>
        </p:spPr>
        <p:txBody>
          <a:bodyPr wrap="square" lIns="0" tIns="0" rIns="0" bIns="0" rtlCol="0" anchor="ctr"/>
          <a:lstStyle/>
          <a:p>
            <a:pPr indent="0" marL="0">
              <a:buNone/>
            </a:pPr>
            <a:r>
              <a:rPr lang="en-US" sz="1200" dirty="0">
                <a:solidFill>
                  <a:srgbClr val="E6ECF2"/>
                </a:solidFill>
                <a:latin typeface="Calibri" pitchFamily="34" charset="0"/>
                <a:ea typeface="Calibri" pitchFamily="34" charset="-122"/>
                <a:cs typeface="Calibri" pitchFamily="34" charset="-120"/>
              </a:rPr>
              <a:t>MCP went vendor-neutral under the Linux Foundation in December 2025; new servers published to its registry rose from 391 in January to 5,703 in August</a:t>
            </a:r>
            <a:endParaRPr lang="en-US" sz="1200" dirty="0"/>
          </a:p>
        </p:txBody>
      </p:sp>
      <p:sp>
        <p:nvSpPr>
          <p:cNvPr id="12" name="Shape 8"/>
          <p:cNvSpPr/>
          <p:nvPr/>
        </p:nvSpPr>
        <p:spPr>
          <a:xfrm>
            <a:off x="640080" y="3785616"/>
            <a:ext cx="7863840" cy="1014984"/>
          </a:xfrm>
          <a:prstGeom prst="rect">
            <a:avLst/>
          </a:prstGeom>
          <a:solidFill>
            <a:srgbClr val="2A3033"/>
          </a:solidFill>
          <a:ln/>
        </p:spPr>
      </p:sp>
      <p:sp>
        <p:nvSpPr>
          <p:cNvPr id="13" name="Shape 9"/>
          <p:cNvSpPr/>
          <p:nvPr/>
        </p:nvSpPr>
        <p:spPr>
          <a:xfrm>
            <a:off x="640080" y="3785616"/>
            <a:ext cx="64008" cy="1014984"/>
          </a:xfrm>
          <a:prstGeom prst="rect">
            <a:avLst/>
          </a:prstGeom>
          <a:solidFill>
            <a:srgbClr val="F35343"/>
          </a:solidFill>
          <a:ln/>
        </p:spPr>
      </p:sp>
      <p:pic>
        <p:nvPicPr>
          <p:cNvPr id="14" name="Image 2" descr="preencoded.png">    </p:cNvPr>
          <p:cNvPicPr>
            <a:picLocks noChangeAspect="1"/>
          </p:cNvPicPr>
          <p:nvPr/>
        </p:nvPicPr>
        <p:blipFill>
          <a:blip r:embed="rId3"/>
          <a:stretch>
            <a:fillRect/>
          </a:stretch>
        </p:blipFill>
        <p:spPr>
          <a:xfrm>
            <a:off x="932688" y="4183380"/>
            <a:ext cx="219456" cy="219456"/>
          </a:xfrm>
          <a:prstGeom prst="rect">
            <a:avLst/>
          </a:prstGeom>
        </p:spPr>
      </p:pic>
      <p:sp>
        <p:nvSpPr>
          <p:cNvPr id="15" name="Text 10"/>
          <p:cNvSpPr/>
          <p:nvPr/>
        </p:nvSpPr>
        <p:spPr>
          <a:xfrm>
            <a:off x="1417320" y="3858768"/>
            <a:ext cx="6858000" cy="868680"/>
          </a:xfrm>
          <a:prstGeom prst="rect">
            <a:avLst/>
          </a:prstGeom>
          <a:noFill/>
          <a:ln/>
        </p:spPr>
        <p:txBody>
          <a:bodyPr wrap="square" lIns="0" tIns="0" rIns="0" bIns="0" rtlCol="0" anchor="ctr"/>
          <a:lstStyle/>
          <a:p>
            <a:pPr indent="0" marL="0">
              <a:buNone/>
            </a:pPr>
            <a:r>
              <a:rPr lang="en-US" sz="1200" dirty="0">
                <a:solidFill>
                  <a:srgbClr val="E6ECF2"/>
                </a:solidFill>
                <a:latin typeface="Calibri" pitchFamily="34" charset="0"/>
                <a:ea typeface="Calibri" pitchFamily="34" charset="-122"/>
                <a:cs typeface="Calibri" pitchFamily="34" charset="-120"/>
              </a:rPr>
              <a:t>DORA named the cost of reviewing AI output the "verification tax" — the human review queue is now a measured bottleneck, not a forecast</a:t>
            </a:r>
            <a:endParaRPr lang="en-US" sz="1200" dirty="0"/>
          </a:p>
        </p:txBody>
      </p:sp>
      <p:sp>
        <p:nvSpPr>
          <p:cNvPr id="16" name="Shape 11"/>
          <p:cNvSpPr/>
          <p:nvPr/>
        </p:nvSpPr>
        <p:spPr>
          <a:xfrm>
            <a:off x="0" y="4983480"/>
            <a:ext cx="9144000" cy="160020"/>
          </a:xfrm>
          <a:prstGeom prst="rect">
            <a:avLst/>
          </a:prstGeom>
          <a:solidFill>
            <a:srgbClr val="F35343"/>
          </a:solidFill>
          <a:ln/>
        </p:spPr>
      </p:sp>
      <p:sp>
        <p:nvSpPr>
          <p:cNvPr id="17" name="Text 12"/>
          <p:cNvSpPr/>
          <p:nvPr/>
        </p:nvSpPr>
        <p:spPr>
          <a:xfrm>
            <a:off x="8458200" y="4709160"/>
            <a:ext cx="457200" cy="228600"/>
          </a:xfrm>
          <a:prstGeom prst="rect">
            <a:avLst/>
          </a:prstGeom>
          <a:noFill/>
          <a:ln/>
        </p:spPr>
        <p:txBody>
          <a:bodyPr wrap="square" lIns="0" tIns="0" rIns="0" bIns="0" rtlCol="0" anchor="ctr"/>
          <a:lstStyle/>
          <a:p>
            <a:pPr algn="ctr" indent="0" marL="0">
              <a:buNone/>
            </a:pPr>
            <a:r>
              <a:rPr lang="en-US" sz="900" dirty="0">
                <a:solidFill>
                  <a:srgbClr val="8A9095"/>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640080" y="274320"/>
            <a:ext cx="5486400" cy="228600"/>
          </a:xfrm>
          <a:prstGeom prst="rect">
            <a:avLst/>
          </a:prstGeom>
          <a:noFill/>
          <a:ln/>
        </p:spPr>
        <p:txBody>
          <a:bodyPr wrap="square" lIns="0" tIns="0" rIns="0" bIns="0" rtlCol="0" anchor="ctr"/>
          <a:lstStyle/>
          <a:p>
            <a:pPr indent="0" marL="0">
              <a:buNone/>
            </a:pPr>
            <a:r>
              <a:rPr lang="en-US" sz="900" b="1" spc="300" kern="0" dirty="0">
                <a:solidFill>
                  <a:srgbClr val="74787C"/>
                </a:solidFill>
                <a:latin typeface="Calibri" pitchFamily="34" charset="0"/>
                <a:ea typeface="Calibri" pitchFamily="34" charset="-122"/>
                <a:cs typeface="Calibri" pitchFamily="34" charset="-120"/>
              </a:rPr>
              <a:t>TIMING</a:t>
            </a:r>
            <a:endParaRPr lang="en-US" sz="900" dirty="0"/>
          </a:p>
        </p:txBody>
      </p:sp>
      <p:pic>
        <p:nvPicPr>
          <p:cNvPr id="3" name="Image 0" descr="preencoded.png">    </p:cNvPr>
          <p:cNvPicPr>
            <a:picLocks noChangeAspect="1"/>
          </p:cNvPicPr>
          <p:nvPr/>
        </p:nvPicPr>
        <p:blipFill>
          <a:blip r:embed="rId1"/>
          <a:stretch>
            <a:fillRect/>
          </a:stretch>
        </p:blipFill>
        <p:spPr>
          <a:xfrm>
            <a:off x="8001000" y="566928"/>
            <a:ext cx="457200" cy="457200"/>
          </a:xfrm>
          <a:prstGeom prst="rect">
            <a:avLst/>
          </a:prstGeom>
        </p:spPr>
      </p:pic>
      <p:sp>
        <p:nvSpPr>
          <p:cNvPr id="4" name="Text 1"/>
          <p:cNvSpPr/>
          <p:nvPr/>
        </p:nvSpPr>
        <p:spPr>
          <a:xfrm>
            <a:off x="640080" y="685800"/>
            <a:ext cx="7178040" cy="1024128"/>
          </a:xfrm>
          <a:prstGeom prst="rect">
            <a:avLst/>
          </a:prstGeom>
          <a:noFill/>
          <a:ln/>
        </p:spPr>
        <p:txBody>
          <a:bodyPr wrap="square" lIns="0" tIns="0" rIns="0" bIns="0" rtlCol="0" anchor="t"/>
          <a:lstStyle/>
          <a:p>
            <a:pPr indent="0" marL="0">
              <a:buNone/>
            </a:pPr>
            <a:r>
              <a:rPr lang="en-US" sz="3000" b="1" dirty="0">
                <a:solidFill>
                  <a:srgbClr val="2D3436"/>
                </a:solidFill>
                <a:latin typeface="Georgia" pitchFamily="34" charset="0"/>
                <a:ea typeface="Georgia" pitchFamily="34" charset="-122"/>
                <a:cs typeface="Georgia" pitchFamily="34" charset="-120"/>
              </a:rPr>
              <a:t>The protocol shipped. Nobody built the client.</a:t>
            </a:r>
            <a:endParaRPr lang="en-US" sz="3000" dirty="0"/>
          </a:p>
        </p:txBody>
      </p:sp>
      <p:sp>
        <p:nvSpPr>
          <p:cNvPr id="5" name="Shape 2"/>
          <p:cNvSpPr/>
          <p:nvPr/>
        </p:nvSpPr>
        <p:spPr>
          <a:xfrm>
            <a:off x="640080" y="1819656"/>
            <a:ext cx="1097280" cy="45720"/>
          </a:xfrm>
          <a:prstGeom prst="rect">
            <a:avLst/>
          </a:prstGeom>
          <a:solidFill>
            <a:srgbClr val="F35343"/>
          </a:solidFill>
          <a:ln/>
        </p:spPr>
      </p:sp>
      <p:sp>
        <p:nvSpPr>
          <p:cNvPr id="6" name="Shape 3"/>
          <p:cNvSpPr/>
          <p:nvPr/>
        </p:nvSpPr>
        <p:spPr>
          <a:xfrm>
            <a:off x="640080" y="2066544"/>
            <a:ext cx="7863840" cy="2295861"/>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7" name="Shape 4"/>
          <p:cNvSpPr/>
          <p:nvPr/>
        </p:nvSpPr>
        <p:spPr>
          <a:xfrm>
            <a:off x="640080" y="2066544"/>
            <a:ext cx="64008" cy="2295861"/>
          </a:xfrm>
          <a:prstGeom prst="rect">
            <a:avLst/>
          </a:prstGeom>
          <a:solidFill>
            <a:srgbClr val="F35343"/>
          </a:solidFill>
          <a:ln/>
        </p:spPr>
      </p:sp>
      <p:sp>
        <p:nvSpPr>
          <p:cNvPr id="8" name="Text 5"/>
          <p:cNvSpPr/>
          <p:nvPr/>
        </p:nvSpPr>
        <p:spPr>
          <a:xfrm>
            <a:off x="960120" y="2249424"/>
            <a:ext cx="7223760" cy="1930101"/>
          </a:xfrm>
          <a:prstGeom prst="rect">
            <a:avLst/>
          </a:prstGeom>
          <a:noFill/>
          <a:ln/>
        </p:spPr>
        <p:txBody>
          <a:bodyPr wrap="square" lIns="0" tIns="0" rIns="0" bIns="0" rtlCol="0" anchor="t"/>
          <a:lstStyle/>
          <a:p>
            <a:pPr indent="0" marL="0">
              <a:lnSpc>
                <a:spcPct val="118000"/>
              </a:lnSpc>
              <a:buNone/>
            </a:pPr>
            <a:r>
              <a:rPr lang="en-US" sz="1300" dirty="0">
                <a:solidFill>
                  <a:srgbClr val="2D3436"/>
                </a:solidFill>
                <a:latin typeface="Calibri" pitchFamily="34" charset="0"/>
                <a:ea typeface="Calibri" pitchFamily="34" charset="-122"/>
                <a:cs typeface="Calibri" pitchFamily="34" charset="-120"/>
              </a:rPr>
              <a:t>On 28 July 2026, MCP added Tasks as an official extension. Agent work can now halt in an input_required state, survive a dropped connection, and be answered later by a human. The specification's own documentation names the use cases: approval gates, review steps, any operation that pauses for user confirmation — and mobile clients on intermittent networks, whose task IDs survive disconnects. That is a deck of cards, described by a standards body. The community client-support matrix lists eleven clients and has no column for Tasks. The wire format for handing agent work to a person now exists. The human end of it does not.</a:t>
            </a:r>
            <a:endParaRPr lang="en-US" sz="1300" dirty="0"/>
          </a:p>
        </p:txBody>
      </p:sp>
      <p:sp>
        <p:nvSpPr>
          <p:cNvPr id="9" name="Shape 6"/>
          <p:cNvSpPr/>
          <p:nvPr/>
        </p:nvSpPr>
        <p:spPr>
          <a:xfrm>
            <a:off x="0" y="4983480"/>
            <a:ext cx="9144000" cy="160020"/>
          </a:xfrm>
          <a:prstGeom prst="rect">
            <a:avLst/>
          </a:prstGeom>
          <a:solidFill>
            <a:srgbClr val="F35343"/>
          </a:solidFill>
          <a:ln/>
        </p:spPr>
      </p:sp>
      <p:sp>
        <p:nvSpPr>
          <p:cNvPr id="10" name="Text 7"/>
          <p:cNvSpPr/>
          <p:nvPr/>
        </p:nvSpPr>
        <p:spPr>
          <a:xfrm>
            <a:off x="8458200" y="4709160"/>
            <a:ext cx="457200" cy="228600"/>
          </a:xfrm>
          <a:prstGeom prst="rect">
            <a:avLst/>
          </a:prstGeom>
          <a:noFill/>
          <a:ln/>
        </p:spPr>
        <p:txBody>
          <a:bodyPr wrap="square" lIns="0" tIns="0" rIns="0" bIns="0" rtlCol="0" anchor="ctr"/>
          <a:lstStyle/>
          <a:p>
            <a:pPr algn="ctr" indent="0" marL="0">
              <a:buNone/>
            </a:pPr>
            <a:r>
              <a:rPr lang="en-US" sz="900" dirty="0">
                <a:solidFill>
                  <a:srgbClr val="74787C"/>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D3436"/>
        </a:solidFill>
      </p:bgPr>
    </p:bg>
    <p:spTree>
      <p:nvGrpSpPr>
        <p:cNvPr id="1" name=""/>
        <p:cNvGrpSpPr/>
        <p:nvPr/>
      </p:nvGrpSpPr>
      <p:grpSpPr>
        <a:xfrm>
          <a:off x="0" y="0"/>
          <a:ext cx="0" cy="0"/>
          <a:chOff x="0" y="0"/>
          <a:chExt cx="0" cy="0"/>
        </a:xfrm>
      </p:grpSpPr>
      <p:sp>
        <p:nvSpPr>
          <p:cNvPr id="2" name="Text 0"/>
          <p:cNvSpPr/>
          <p:nvPr/>
        </p:nvSpPr>
        <p:spPr>
          <a:xfrm>
            <a:off x="640080" y="292608"/>
            <a:ext cx="5486400" cy="228600"/>
          </a:xfrm>
          <a:prstGeom prst="rect">
            <a:avLst/>
          </a:prstGeom>
          <a:noFill/>
          <a:ln/>
        </p:spPr>
        <p:txBody>
          <a:bodyPr wrap="square" lIns="0" tIns="0" rIns="0" bIns="0" rtlCol="0" anchor="ctr"/>
          <a:lstStyle/>
          <a:p>
            <a:pPr indent="0" marL="0">
              <a:buNone/>
            </a:pPr>
            <a:r>
              <a:rPr lang="en-US" sz="900" b="1" spc="300" kern="0" dirty="0">
                <a:solidFill>
                  <a:srgbClr val="9AA0A5"/>
                </a:solidFill>
                <a:latin typeface="Calibri" pitchFamily="34" charset="0"/>
                <a:ea typeface="Calibri" pitchFamily="34" charset="-122"/>
                <a:cs typeface="Calibri" pitchFamily="34" charset="-120"/>
              </a:rPr>
              <a:t>FOUNDER-MARKET FIT</a:t>
            </a:r>
            <a:endParaRPr lang="en-US" sz="900" dirty="0"/>
          </a:p>
        </p:txBody>
      </p:sp>
      <p:sp>
        <p:nvSpPr>
          <p:cNvPr id="3" name="Text 1"/>
          <p:cNvSpPr/>
          <p:nvPr/>
        </p:nvSpPr>
        <p:spPr>
          <a:xfrm>
            <a:off x="640080" y="621792"/>
            <a:ext cx="7863840" cy="585216"/>
          </a:xfrm>
          <a:prstGeom prst="rect">
            <a:avLst/>
          </a:prstGeom>
          <a:noFill/>
          <a:ln/>
        </p:spPr>
        <p:txBody>
          <a:bodyPr wrap="square" lIns="0" tIns="0" rIns="0" bIns="0"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Why this person builds this.</a:t>
            </a:r>
            <a:endParaRPr lang="en-US" sz="3000" dirty="0"/>
          </a:p>
        </p:txBody>
      </p:sp>
      <p:sp>
        <p:nvSpPr>
          <p:cNvPr id="4" name="Shape 2"/>
          <p:cNvSpPr/>
          <p:nvPr/>
        </p:nvSpPr>
        <p:spPr>
          <a:xfrm>
            <a:off x="640080" y="1316736"/>
            <a:ext cx="1097280" cy="45720"/>
          </a:xfrm>
          <a:prstGeom prst="rect">
            <a:avLst/>
          </a:prstGeom>
          <a:solidFill>
            <a:srgbClr val="F35343"/>
          </a:solidFill>
          <a:ln/>
        </p:spPr>
      </p:sp>
      <p:pic>
        <p:nvPicPr>
          <p:cNvPr id="5" name="Image 0" descr="preencoded.png">    </p:cNvPr>
          <p:cNvPicPr>
            <a:picLocks noChangeAspect="1"/>
          </p:cNvPicPr>
          <p:nvPr/>
        </p:nvPicPr>
        <p:blipFill>
          <a:blip r:embed="rId1"/>
          <a:stretch>
            <a:fillRect/>
          </a:stretch>
        </p:blipFill>
        <p:spPr>
          <a:xfrm>
            <a:off x="640080" y="1581912"/>
            <a:ext cx="365760" cy="365760"/>
          </a:xfrm>
          <a:prstGeom prst="rect">
            <a:avLst/>
          </a:prstGeom>
        </p:spPr>
      </p:pic>
      <p:sp>
        <p:nvSpPr>
          <p:cNvPr id="6" name="Text 3"/>
          <p:cNvSpPr/>
          <p:nvPr/>
        </p:nvSpPr>
        <p:spPr>
          <a:xfrm>
            <a:off x="640080" y="2112264"/>
            <a:ext cx="7680960" cy="507675"/>
          </a:xfrm>
          <a:prstGeom prst="rect">
            <a:avLst/>
          </a:prstGeom>
          <a:noFill/>
          <a:ln/>
        </p:spPr>
        <p:txBody>
          <a:bodyPr wrap="square" lIns="0" tIns="0" rIns="0" bIns="0" rtlCol="0" anchor="t"/>
          <a:lstStyle/>
          <a:p>
            <a:pPr indent="0" marL="0">
              <a:lnSpc>
                <a:spcPct val="112000"/>
              </a:lnSpc>
              <a:buNone/>
            </a:pPr>
            <a:r>
              <a:rPr lang="en-US" sz="1200" b="1" dirty="0">
                <a:solidFill>
                  <a:srgbClr val="FFFFFF"/>
                </a:solidFill>
                <a:latin typeface="Calibri" pitchFamily="34" charset="0"/>
                <a:ea typeface="Calibri" pitchFamily="34" charset="-122"/>
                <a:cs typeface="Calibri" pitchFamily="34" charset="-120"/>
              </a:rPr>
              <a:t>Christian Crumlish — thirty years building where attention is the scarce resource: Yahoo!'s design pattern library, AOL messaging, 7 Cups, covid19.ca.gov, the product chapter at 18F.</a:t>
            </a:r>
            <a:endParaRPr lang="en-US" sz="1200" dirty="0"/>
          </a:p>
        </p:txBody>
      </p:sp>
      <p:sp>
        <p:nvSpPr>
          <p:cNvPr id="7" name="Text 4"/>
          <p:cNvSpPr/>
          <p:nvPr/>
        </p:nvSpPr>
        <p:spPr>
          <a:xfrm>
            <a:off x="640080" y="2760635"/>
            <a:ext cx="7680960" cy="507675"/>
          </a:xfrm>
          <a:prstGeom prst="rect">
            <a:avLst/>
          </a:prstGeom>
          <a:noFill/>
          <a:ln/>
        </p:spPr>
        <p:txBody>
          <a:bodyPr wrap="square" lIns="0" tIns="0" rIns="0" bIns="0" rtlCol="0" anchor="t"/>
          <a:lstStyle/>
          <a:p>
            <a:pPr indent="0" marL="0">
              <a:lnSpc>
                <a:spcPct val="112000"/>
              </a:lnSpc>
              <a:buNone/>
            </a:pPr>
            <a:r>
              <a:rPr lang="en-US" sz="1200" i="1" dirty="0">
                <a:solidFill>
                  <a:srgbClr val="DDE3E8"/>
                </a:solidFill>
                <a:latin typeface="Calibri" pitchFamily="34" charset="0"/>
                <a:ea typeface="Calibri" pitchFamily="34" charset="-122"/>
                <a:cs typeface="Calibri" pitchFamily="34" charset="-120"/>
              </a:rPr>
              <a:t>One Job began as the to-do app every product manager has in a drawer. It stalled in 2025 on a migration bug and on something harder — he could not put the feel of a gesture into words.</a:t>
            </a:r>
            <a:endParaRPr lang="en-US" sz="1200" dirty="0"/>
          </a:p>
        </p:txBody>
      </p:sp>
      <p:sp>
        <p:nvSpPr>
          <p:cNvPr id="8" name="Text 5"/>
          <p:cNvSpPr/>
          <p:nvPr/>
        </p:nvSpPr>
        <p:spPr>
          <a:xfrm>
            <a:off x="640080" y="3409005"/>
            <a:ext cx="7680960" cy="743224"/>
          </a:xfrm>
          <a:prstGeom prst="rect">
            <a:avLst/>
          </a:prstGeom>
          <a:noFill/>
          <a:ln/>
        </p:spPr>
        <p:txBody>
          <a:bodyPr wrap="square" lIns="0" tIns="0" rIns="0" bIns="0" rtlCol="0" anchor="t"/>
          <a:lstStyle/>
          <a:p>
            <a:pPr indent="0" marL="0">
              <a:lnSpc>
                <a:spcPct val="112000"/>
              </a:lnSpc>
              <a:buNone/>
            </a:pPr>
            <a:r>
              <a:rPr lang="en-US" sz="1200" i="1" dirty="0">
                <a:solidFill>
                  <a:srgbClr val="DDE3E8"/>
                </a:solidFill>
                <a:latin typeface="Calibri" pitchFamily="34" charset="0"/>
                <a:ea typeface="Calibri" pitchFamily="34" charset="-122"/>
                <a:cs typeface="Calibri" pitchFamily="34" charset="-120"/>
              </a:rPr>
              <a:t>After a year learning to work with autonomous coding agents, he handed the entire wrecked history to one and asked it to finish the job. It did, including the gestural feel he had been unable to describe.</a:t>
            </a:r>
            <a:endParaRPr lang="en-US" sz="1200" dirty="0"/>
          </a:p>
        </p:txBody>
      </p:sp>
      <p:sp>
        <p:nvSpPr>
          <p:cNvPr id="9" name="Text 6"/>
          <p:cNvSpPr/>
          <p:nvPr/>
        </p:nvSpPr>
        <p:spPr>
          <a:xfrm>
            <a:off x="640080" y="4292925"/>
            <a:ext cx="7680960" cy="507675"/>
          </a:xfrm>
          <a:prstGeom prst="rect">
            <a:avLst/>
          </a:prstGeom>
          <a:noFill/>
          <a:ln/>
        </p:spPr>
        <p:txBody>
          <a:bodyPr wrap="square" lIns="0" tIns="0" rIns="0" bIns="0" rtlCol="0" anchor="t"/>
          <a:lstStyle/>
          <a:p>
            <a:pPr indent="0" marL="0">
              <a:lnSpc>
                <a:spcPct val="112000"/>
              </a:lnSpc>
              <a:buNone/>
            </a:pPr>
            <a:r>
              <a:rPr lang="en-US" sz="1200" i="1" dirty="0">
                <a:solidFill>
                  <a:srgbClr val="DDE3E8"/>
                </a:solidFill>
                <a:latin typeface="Calibri" pitchFamily="34" charset="0"/>
                <a:ea typeface="Calibri" pitchFamily="34" charset="-122"/>
                <a:cs typeface="Calibri" pitchFamily="34" charset="-120"/>
              </a:rPr>
              <a:t>Every active project he runs turns out to be about the same thing: managing or focusing attention. This is the one you can hold in your hand.</a:t>
            </a:r>
            <a:endParaRPr lang="en-US" sz="1200" dirty="0"/>
          </a:p>
        </p:txBody>
      </p:sp>
      <p:sp>
        <p:nvSpPr>
          <p:cNvPr id="10" name="Shape 7"/>
          <p:cNvSpPr/>
          <p:nvPr/>
        </p:nvSpPr>
        <p:spPr>
          <a:xfrm>
            <a:off x="0" y="4983480"/>
            <a:ext cx="9144000" cy="160020"/>
          </a:xfrm>
          <a:prstGeom prst="rect">
            <a:avLst/>
          </a:prstGeom>
          <a:solidFill>
            <a:srgbClr val="F35343"/>
          </a:solidFill>
          <a:ln/>
        </p:spPr>
      </p:sp>
      <p:sp>
        <p:nvSpPr>
          <p:cNvPr id="11" name="Text 8"/>
          <p:cNvSpPr/>
          <p:nvPr/>
        </p:nvSpPr>
        <p:spPr>
          <a:xfrm>
            <a:off x="8458200" y="4709160"/>
            <a:ext cx="457200" cy="228600"/>
          </a:xfrm>
          <a:prstGeom prst="rect">
            <a:avLst/>
          </a:prstGeom>
          <a:noFill/>
          <a:ln/>
        </p:spPr>
        <p:txBody>
          <a:bodyPr wrap="square" lIns="0" tIns="0" rIns="0" bIns="0" rtlCol="0" anchor="ctr"/>
          <a:lstStyle/>
          <a:p>
            <a:pPr algn="ctr" indent="0" marL="0">
              <a:buNone/>
            </a:pPr>
            <a:r>
              <a:rPr lang="en-US" sz="900" dirty="0">
                <a:solidFill>
                  <a:srgbClr val="8A9095"/>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640080" y="274320"/>
            <a:ext cx="5486400" cy="228600"/>
          </a:xfrm>
          <a:prstGeom prst="rect">
            <a:avLst/>
          </a:prstGeom>
          <a:noFill/>
          <a:ln/>
        </p:spPr>
        <p:txBody>
          <a:bodyPr wrap="square" lIns="0" tIns="0" rIns="0" bIns="0" rtlCol="0" anchor="ctr"/>
          <a:lstStyle/>
          <a:p>
            <a:pPr indent="0" marL="0">
              <a:buNone/>
            </a:pPr>
            <a:r>
              <a:rPr lang="en-US" sz="900" b="1" spc="300" kern="0" dirty="0">
                <a:solidFill>
                  <a:srgbClr val="74787C"/>
                </a:solidFill>
                <a:latin typeface="Calibri" pitchFamily="34" charset="0"/>
                <a:ea typeface="Calibri" pitchFamily="34" charset="-122"/>
                <a:cs typeface="Calibri" pitchFamily="34" charset="-120"/>
              </a:rPr>
              <a:t>THE ASK</a:t>
            </a:r>
            <a:endParaRPr lang="en-US" sz="900" dirty="0"/>
          </a:p>
        </p:txBody>
      </p:sp>
      <p:sp>
        <p:nvSpPr>
          <p:cNvPr id="3" name="Text 1"/>
          <p:cNvSpPr/>
          <p:nvPr/>
        </p:nvSpPr>
        <p:spPr>
          <a:xfrm>
            <a:off x="640080" y="685800"/>
            <a:ext cx="7863840" cy="969264"/>
          </a:xfrm>
          <a:prstGeom prst="rect">
            <a:avLst/>
          </a:prstGeom>
          <a:noFill/>
          <a:ln/>
        </p:spPr>
        <p:txBody>
          <a:bodyPr wrap="square" lIns="0" tIns="0" rIns="0" bIns="0" rtlCol="0" anchor="t"/>
          <a:lstStyle/>
          <a:p>
            <a:pPr indent="0" marL="0">
              <a:buNone/>
            </a:pPr>
            <a:r>
              <a:rPr lang="en-US" sz="2800" b="1" dirty="0">
                <a:solidFill>
                  <a:srgbClr val="2D3436"/>
                </a:solidFill>
                <a:latin typeface="Georgia" pitchFamily="34" charset="0"/>
                <a:ea typeface="Georgia" pitchFamily="34" charset="-122"/>
                <a:cs typeface="Georgia" pitchFamily="34" charset="-120"/>
              </a:rPr>
              <a:t>With $750K, here's where we are in eighteen months:</a:t>
            </a:r>
            <a:endParaRPr lang="en-US" sz="2800" dirty="0"/>
          </a:p>
        </p:txBody>
      </p:sp>
      <p:sp>
        <p:nvSpPr>
          <p:cNvPr id="4" name="Shape 2"/>
          <p:cNvSpPr/>
          <p:nvPr/>
        </p:nvSpPr>
        <p:spPr>
          <a:xfrm>
            <a:off x="640080" y="1764792"/>
            <a:ext cx="1097280" cy="45720"/>
          </a:xfrm>
          <a:prstGeom prst="rect">
            <a:avLst/>
          </a:prstGeom>
          <a:solidFill>
            <a:srgbClr val="F35343"/>
          </a:solidFill>
          <a:ln/>
        </p:spPr>
      </p:sp>
      <p:sp>
        <p:nvSpPr>
          <p:cNvPr id="5" name="Shape 3"/>
          <p:cNvSpPr/>
          <p:nvPr/>
        </p:nvSpPr>
        <p:spPr>
          <a:xfrm>
            <a:off x="640080" y="2011680"/>
            <a:ext cx="7863840" cy="601218"/>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6" name="Shape 4"/>
          <p:cNvSpPr/>
          <p:nvPr/>
        </p:nvSpPr>
        <p:spPr>
          <a:xfrm>
            <a:off x="841248" y="2120265"/>
            <a:ext cx="384048" cy="384048"/>
          </a:xfrm>
          <a:prstGeom prst="rect">
            <a:avLst/>
          </a:prstGeom>
          <a:solidFill>
            <a:srgbClr val="2D3436"/>
          </a:solidFill>
          <a:ln/>
        </p:spPr>
      </p:sp>
      <p:sp>
        <p:nvSpPr>
          <p:cNvPr id="7" name="Text 5"/>
          <p:cNvSpPr/>
          <p:nvPr/>
        </p:nvSpPr>
        <p:spPr>
          <a:xfrm>
            <a:off x="841248" y="212026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417320" y="2084832"/>
            <a:ext cx="6858000" cy="454914"/>
          </a:xfrm>
          <a:prstGeom prst="rect">
            <a:avLst/>
          </a:prstGeom>
          <a:noFill/>
          <a:ln/>
        </p:spPr>
        <p:txBody>
          <a:bodyPr wrap="square" lIns="0" tIns="0" rIns="0" bIns="0" rtlCol="0" anchor="ctr"/>
          <a:lstStyle/>
          <a:p>
            <a:pPr indent="0" marL="0">
              <a:buNone/>
            </a:pPr>
            <a:r>
              <a:rPr lang="en-US" sz="1300" dirty="0">
                <a:solidFill>
                  <a:srgbClr val="2D3436"/>
                </a:solidFill>
                <a:latin typeface="Calibri" pitchFamily="34" charset="0"/>
                <a:ea typeface="Calibri" pitchFamily="34" charset="-122"/>
                <a:cs typeface="Calibri" pitchFamily="34" charset="-120"/>
              </a:rPr>
              <a:t>1.0 live on both stores with a real retention curve — the first evidence anyone but us wants this</a:t>
            </a:r>
            <a:endParaRPr lang="en-US" sz="1300" dirty="0"/>
          </a:p>
        </p:txBody>
      </p:sp>
      <p:sp>
        <p:nvSpPr>
          <p:cNvPr id="9" name="Shape 7"/>
          <p:cNvSpPr/>
          <p:nvPr/>
        </p:nvSpPr>
        <p:spPr>
          <a:xfrm>
            <a:off x="640080" y="2740914"/>
            <a:ext cx="7863840" cy="601218"/>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0" name="Shape 8"/>
          <p:cNvSpPr/>
          <p:nvPr/>
        </p:nvSpPr>
        <p:spPr>
          <a:xfrm>
            <a:off x="841248" y="2849499"/>
            <a:ext cx="384048" cy="384048"/>
          </a:xfrm>
          <a:prstGeom prst="rect">
            <a:avLst/>
          </a:prstGeom>
          <a:solidFill>
            <a:srgbClr val="2D3436"/>
          </a:solidFill>
          <a:ln/>
        </p:spPr>
      </p:sp>
      <p:sp>
        <p:nvSpPr>
          <p:cNvPr id="11" name="Text 9"/>
          <p:cNvSpPr/>
          <p:nvPr/>
        </p:nvSpPr>
        <p:spPr>
          <a:xfrm>
            <a:off x="841248" y="284949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1417320" y="2814066"/>
            <a:ext cx="6858000" cy="454914"/>
          </a:xfrm>
          <a:prstGeom prst="rect">
            <a:avLst/>
          </a:prstGeom>
          <a:noFill/>
          <a:ln/>
        </p:spPr>
        <p:txBody>
          <a:bodyPr wrap="square" lIns="0" tIns="0" rIns="0" bIns="0" rtlCol="0" anchor="ctr"/>
          <a:lstStyle/>
          <a:p>
            <a:pPr indent="0" marL="0">
              <a:buNone/>
            </a:pPr>
            <a:r>
              <a:rPr lang="en-US" sz="1300" dirty="0">
                <a:solidFill>
                  <a:srgbClr val="2D3436"/>
                </a:solidFill>
                <a:latin typeface="Calibri" pitchFamily="34" charset="0"/>
                <a:ea typeface="Calibri" pitchFamily="34" charset="-122"/>
                <a:cs typeface="Calibri" pitchFamily="34" charset="-120"/>
              </a:rPr>
              <a:t>A first paying Pro cohort at $3.49/month, and an honest free-to-paid conversion number</a:t>
            </a:r>
            <a:endParaRPr lang="en-US" sz="1300" dirty="0"/>
          </a:p>
        </p:txBody>
      </p:sp>
      <p:sp>
        <p:nvSpPr>
          <p:cNvPr id="13" name="Shape 11"/>
          <p:cNvSpPr/>
          <p:nvPr/>
        </p:nvSpPr>
        <p:spPr>
          <a:xfrm>
            <a:off x="640080" y="3470148"/>
            <a:ext cx="7863840" cy="601218"/>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4" name="Shape 12"/>
          <p:cNvSpPr/>
          <p:nvPr/>
        </p:nvSpPr>
        <p:spPr>
          <a:xfrm>
            <a:off x="841248" y="3578733"/>
            <a:ext cx="384048" cy="384048"/>
          </a:xfrm>
          <a:prstGeom prst="rect">
            <a:avLst/>
          </a:prstGeom>
          <a:solidFill>
            <a:srgbClr val="2D3436"/>
          </a:solidFill>
          <a:ln/>
        </p:spPr>
      </p:sp>
      <p:sp>
        <p:nvSpPr>
          <p:cNvPr id="15" name="Text 13"/>
          <p:cNvSpPr/>
          <p:nvPr/>
        </p:nvSpPr>
        <p:spPr>
          <a:xfrm>
            <a:off x="841248" y="357873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4"/>
          <p:cNvSpPr/>
          <p:nvPr/>
        </p:nvSpPr>
        <p:spPr>
          <a:xfrm>
            <a:off x="1417320" y="3543300"/>
            <a:ext cx="6858000" cy="454914"/>
          </a:xfrm>
          <a:prstGeom prst="rect">
            <a:avLst/>
          </a:prstGeom>
          <a:noFill/>
          <a:ln/>
        </p:spPr>
        <p:txBody>
          <a:bodyPr wrap="square" lIns="0" tIns="0" rIns="0" bIns="0" rtlCol="0" anchor="ctr"/>
          <a:lstStyle/>
          <a:p>
            <a:pPr indent="0" marL="0">
              <a:buNone/>
            </a:pPr>
            <a:r>
              <a:rPr lang="en-US" sz="1300" dirty="0">
                <a:solidFill>
                  <a:srgbClr val="2D3436"/>
                </a:solidFill>
                <a:latin typeface="Calibri" pitchFamily="34" charset="0"/>
                <a:ea typeface="Calibri" pitchFamily="34" charset="-122"/>
                <a:cs typeface="Calibri" pitchFamily="34" charset="-120"/>
              </a:rPr>
              <a:t>The first MCP Tasks client shipped — agents queue work, a human answers one card at a time</a:t>
            </a:r>
            <a:endParaRPr lang="en-US" sz="1300" dirty="0"/>
          </a:p>
        </p:txBody>
      </p:sp>
      <p:sp>
        <p:nvSpPr>
          <p:cNvPr id="17" name="Shape 15"/>
          <p:cNvSpPr/>
          <p:nvPr/>
        </p:nvSpPr>
        <p:spPr>
          <a:xfrm>
            <a:off x="640080" y="4199382"/>
            <a:ext cx="7863840" cy="601218"/>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8" name="Shape 16"/>
          <p:cNvSpPr/>
          <p:nvPr/>
        </p:nvSpPr>
        <p:spPr>
          <a:xfrm>
            <a:off x="841248" y="4307967"/>
            <a:ext cx="384048" cy="384048"/>
          </a:xfrm>
          <a:prstGeom prst="rect">
            <a:avLst/>
          </a:prstGeom>
          <a:solidFill>
            <a:srgbClr val="2D3436"/>
          </a:solidFill>
          <a:ln/>
        </p:spPr>
      </p:sp>
      <p:sp>
        <p:nvSpPr>
          <p:cNvPr id="19" name="Text 17"/>
          <p:cNvSpPr/>
          <p:nvPr/>
        </p:nvSpPr>
        <p:spPr>
          <a:xfrm>
            <a:off x="841248" y="430796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0" name="Text 18"/>
          <p:cNvSpPr/>
          <p:nvPr/>
        </p:nvSpPr>
        <p:spPr>
          <a:xfrm>
            <a:off x="1417320" y="4272534"/>
            <a:ext cx="6858000" cy="454914"/>
          </a:xfrm>
          <a:prstGeom prst="rect">
            <a:avLst/>
          </a:prstGeom>
          <a:noFill/>
          <a:ln/>
        </p:spPr>
        <p:txBody>
          <a:bodyPr wrap="square" lIns="0" tIns="0" rIns="0" bIns="0" rtlCol="0" anchor="ctr"/>
          <a:lstStyle/>
          <a:p>
            <a:pPr indent="0" marL="0">
              <a:buNone/>
            </a:pPr>
            <a:r>
              <a:rPr lang="en-US" sz="1300" dirty="0">
                <a:solidFill>
                  <a:srgbClr val="2D3436"/>
                </a:solidFill>
                <a:latin typeface="Calibri" pitchFamily="34" charset="0"/>
                <a:ea typeface="Calibri" pitchFamily="34" charset="-122"/>
                <a:cs typeface="Calibri" pitchFamily="34" charset="-120"/>
              </a:rPr>
              <a:t>Two named agent frameworks handing work into One Job in production</a:t>
            </a:r>
            <a:endParaRPr lang="en-US" sz="1300" dirty="0"/>
          </a:p>
        </p:txBody>
      </p:sp>
      <p:sp>
        <p:nvSpPr>
          <p:cNvPr id="21" name="Shape 19"/>
          <p:cNvSpPr/>
          <p:nvPr/>
        </p:nvSpPr>
        <p:spPr>
          <a:xfrm>
            <a:off x="0" y="4983480"/>
            <a:ext cx="9144000" cy="160020"/>
          </a:xfrm>
          <a:prstGeom prst="rect">
            <a:avLst/>
          </a:prstGeom>
          <a:solidFill>
            <a:srgbClr val="F35343"/>
          </a:solidFill>
          <a:ln/>
        </p:spPr>
      </p:sp>
      <p:sp>
        <p:nvSpPr>
          <p:cNvPr id="22" name="Text 20"/>
          <p:cNvSpPr/>
          <p:nvPr/>
        </p:nvSpPr>
        <p:spPr>
          <a:xfrm>
            <a:off x="8458200" y="4709160"/>
            <a:ext cx="457200" cy="228600"/>
          </a:xfrm>
          <a:prstGeom prst="rect">
            <a:avLst/>
          </a:prstGeom>
          <a:noFill/>
          <a:ln/>
        </p:spPr>
        <p:txBody>
          <a:bodyPr wrap="square" lIns="0" tIns="0" rIns="0" bIns="0" rtlCol="0" anchor="ctr"/>
          <a:lstStyle/>
          <a:p>
            <a:pPr algn="ctr" indent="0" marL="0">
              <a:buNone/>
            </a:pPr>
            <a:r>
              <a:rPr lang="en-US" sz="900" dirty="0">
                <a:solidFill>
                  <a:srgbClr val="74787C"/>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F2426"/>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251960" y="457200"/>
            <a:ext cx="640080" cy="640080"/>
          </a:xfrm>
          <a:prstGeom prst="rect">
            <a:avLst/>
          </a:prstGeom>
        </p:spPr>
      </p:pic>
      <p:sp>
        <p:nvSpPr>
          <p:cNvPr id="3" name="Text 0"/>
          <p:cNvSpPr/>
          <p:nvPr/>
        </p:nvSpPr>
        <p:spPr>
          <a:xfrm>
            <a:off x="731520" y="1298448"/>
            <a:ext cx="7680960" cy="566928"/>
          </a:xfrm>
          <a:prstGeom prst="rect">
            <a:avLst/>
          </a:prstGeom>
          <a:noFill/>
          <a:ln/>
        </p:spPr>
        <p:txBody>
          <a:bodyPr wrap="square" lIns="0" tIns="0" rIns="0" bIns="0" rtlCol="0" anchor="ctr"/>
          <a:lstStyle/>
          <a:p>
            <a:pPr algn="ctr" indent="0" marL="0">
              <a:buNone/>
            </a:pPr>
            <a:r>
              <a:rPr lang="en-US" sz="3400" b="1" dirty="0">
                <a:solidFill>
                  <a:srgbClr val="FFFFFF"/>
                </a:solidFill>
                <a:latin typeface="Georgia" pitchFamily="34" charset="0"/>
                <a:ea typeface="Georgia" pitchFamily="34" charset="-122"/>
                <a:cs typeface="Georgia" pitchFamily="34" charset="-120"/>
              </a:rPr>
              <a:t>One more thing...</a:t>
            </a:r>
            <a:endParaRPr lang="en-US" sz="3400" dirty="0"/>
          </a:p>
        </p:txBody>
      </p:sp>
      <p:sp>
        <p:nvSpPr>
          <p:cNvPr id="4" name="Shape 1"/>
          <p:cNvSpPr/>
          <p:nvPr/>
        </p:nvSpPr>
        <p:spPr>
          <a:xfrm>
            <a:off x="4023360" y="2011680"/>
            <a:ext cx="1097280" cy="36576"/>
          </a:xfrm>
          <a:prstGeom prst="rect">
            <a:avLst/>
          </a:prstGeom>
          <a:solidFill>
            <a:srgbClr val="00B894"/>
          </a:solidFill>
          <a:ln/>
        </p:spPr>
      </p:sp>
      <p:sp>
        <p:nvSpPr>
          <p:cNvPr id="5" name="Text 2"/>
          <p:cNvSpPr/>
          <p:nvPr/>
        </p:nvSpPr>
        <p:spPr>
          <a:xfrm>
            <a:off x="914400" y="2267712"/>
            <a:ext cx="7315200" cy="2369393"/>
          </a:xfrm>
          <a:prstGeom prst="rect">
            <a:avLst/>
          </a:prstGeom>
          <a:noFill/>
          <a:ln/>
        </p:spPr>
        <p:txBody>
          <a:bodyPr wrap="square" lIns="0" tIns="0" rIns="0" bIns="0" rtlCol="0" anchor="t"/>
          <a:lstStyle/>
          <a:p>
            <a:pPr algn="ctr" indent="0" marL="0">
              <a:lnSpc>
                <a:spcPct val="122000"/>
              </a:lnSpc>
              <a:buNone/>
            </a:pPr>
            <a:r>
              <a:rPr lang="en-US" sz="1500" dirty="0">
                <a:solidFill>
                  <a:srgbClr val="E6ECF2"/>
                </a:solidFill>
                <a:latin typeface="Calibri" pitchFamily="34" charset="0"/>
                <a:ea typeface="Calibri" pitchFamily="34" charset="-122"/>
                <a:cs typeface="Calibri" pitchFamily="34" charset="-120"/>
              </a:rPr>
              <a:t>Our first beta tester, in his first hour with the app and knowing nothing about the roadmap, asked for the thing we are building: "a useful front end for all of my messaging inputs — email and Slack and WhatsApp, the unread stuff, with some indication of the source." He arrived at the agent-inbox thesis from the human side, unprompted. The appetite for one card at a time, from many sources, with provenance attached, is not something we have to go create.</a:t>
            </a:r>
            <a:endParaRPr lang="en-US" sz="1500" dirty="0"/>
          </a:p>
        </p:txBody>
      </p:sp>
      <p:sp>
        <p:nvSpPr>
          <p:cNvPr id="6" name="Shape 3"/>
          <p:cNvSpPr/>
          <p:nvPr/>
        </p:nvSpPr>
        <p:spPr>
          <a:xfrm>
            <a:off x="0" y="4983480"/>
            <a:ext cx="9144000" cy="160020"/>
          </a:xfrm>
          <a:prstGeom prst="rect">
            <a:avLst/>
          </a:prstGeom>
          <a:solidFill>
            <a:srgbClr val="F35343"/>
          </a:solidFill>
          <a:ln/>
        </p:spPr>
      </p:sp>
      <p:sp>
        <p:nvSpPr>
          <p:cNvPr id="7" name="Text 4"/>
          <p:cNvSpPr/>
          <p:nvPr/>
        </p:nvSpPr>
        <p:spPr>
          <a:xfrm>
            <a:off x="8458200" y="4709160"/>
            <a:ext cx="457200" cy="228600"/>
          </a:xfrm>
          <a:prstGeom prst="rect">
            <a:avLst/>
          </a:prstGeom>
          <a:noFill/>
          <a:ln/>
        </p:spPr>
        <p:txBody>
          <a:bodyPr wrap="square" lIns="0" tIns="0" rIns="0" bIns="0" rtlCol="0" anchor="ctr"/>
          <a:lstStyle/>
          <a:p>
            <a:pPr algn="ctr" indent="0" marL="0">
              <a:buNone/>
            </a:pPr>
            <a:r>
              <a:rPr lang="en-US" sz="900" dirty="0">
                <a:solidFill>
                  <a:srgbClr val="8A9095"/>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F2426"/>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35343"/>
          </a:solidFill>
          <a:ln/>
        </p:spPr>
      </p:sp>
      <p:sp>
        <p:nvSpPr>
          <p:cNvPr id="3" name="Text 1"/>
          <p:cNvSpPr/>
          <p:nvPr/>
        </p:nvSpPr>
        <p:spPr>
          <a:xfrm>
            <a:off x="731520" y="1143000"/>
            <a:ext cx="7680960" cy="2201875"/>
          </a:xfrm>
          <a:prstGeom prst="rect">
            <a:avLst/>
          </a:prstGeom>
          <a:noFill/>
          <a:ln/>
        </p:spPr>
        <p:txBody>
          <a:bodyPr wrap="square" lIns="0" tIns="0" rIns="0" bIns="0" rtlCol="0" anchor="t"/>
          <a:lstStyle/>
          <a:p>
            <a:pPr algn="ctr" indent="0" marL="0">
              <a:lnSpc>
                <a:spcPct val="115000"/>
              </a:lnSpc>
              <a:buNone/>
            </a:pPr>
            <a:r>
              <a:rPr lang="en-US" sz="2900" b="1" dirty="0">
                <a:solidFill>
                  <a:srgbClr val="FFFFFF"/>
                </a:solidFill>
                <a:latin typeface="Georgia" pitchFamily="34" charset="0"/>
                <a:ea typeface="Georgia" pitchFamily="34" charset="-122"/>
                <a:cs typeface="Georgia" pitchFamily="34" charset="-120"/>
              </a:rPr>
              <a:t>We're raising $750K to ship 1.0, earn our first paying users, and build the human end of a protocol that already exists.</a:t>
            </a:r>
            <a:endParaRPr lang="en-US" sz="2900" dirty="0"/>
          </a:p>
        </p:txBody>
      </p:sp>
      <p:pic>
        <p:nvPicPr>
          <p:cNvPr id="4" name="Image 0" descr="preencoded.png">    </p:cNvPr>
          <p:cNvPicPr>
            <a:picLocks noChangeAspect="1"/>
          </p:cNvPicPr>
          <p:nvPr/>
        </p:nvPicPr>
        <p:blipFill>
          <a:blip r:embed="rId1"/>
          <a:stretch>
            <a:fillRect/>
          </a:stretch>
        </p:blipFill>
        <p:spPr>
          <a:xfrm>
            <a:off x="4297680" y="3664915"/>
            <a:ext cx="548640" cy="548640"/>
          </a:xfrm>
          <a:prstGeom prst="rect">
            <a:avLst/>
          </a:prstGeom>
        </p:spPr>
      </p:pic>
      <p:sp>
        <p:nvSpPr>
          <p:cNvPr id="5" name="Text 2"/>
          <p:cNvSpPr/>
          <p:nvPr/>
        </p:nvSpPr>
        <p:spPr>
          <a:xfrm>
            <a:off x="731520" y="4378147"/>
            <a:ext cx="7680960" cy="310896"/>
          </a:xfrm>
          <a:prstGeom prst="rect">
            <a:avLst/>
          </a:prstGeom>
          <a:noFill/>
          <a:ln/>
        </p:spPr>
        <p:txBody>
          <a:bodyPr wrap="square" lIns="0" tIns="0" rIns="0" bIns="0" rtlCol="0" anchor="ctr"/>
          <a:lstStyle/>
          <a:p>
            <a:pPr algn="ctr" indent="0" marL="0">
              <a:buNone/>
            </a:pPr>
            <a:r>
              <a:rPr lang="en-US" sz="1500" dirty="0">
                <a:solidFill>
                  <a:srgbClr val="00B894"/>
                </a:solidFill>
                <a:latin typeface="Calibri" pitchFamily="34" charset="0"/>
                <a:ea typeface="Calibri" pitchFamily="34" charset="-122"/>
                <a:cs typeface="Calibri" pitchFamily="34" charset="-120"/>
              </a:rPr>
              <a:t>Christian Crumlish  ·  xian@designinproduct.com  ·  onejob.co</a:t>
            </a:r>
            <a:endParaRPr lang="en-US" sz="1500" dirty="0"/>
          </a:p>
        </p:txBody>
      </p:sp>
      <p:sp>
        <p:nvSpPr>
          <p:cNvPr id="6" name="Shape 3"/>
          <p:cNvSpPr/>
          <p:nvPr/>
        </p:nvSpPr>
        <p:spPr>
          <a:xfrm>
            <a:off x="0" y="4983480"/>
            <a:ext cx="9144000" cy="160020"/>
          </a:xfrm>
          <a:prstGeom prst="rect">
            <a:avLst/>
          </a:prstGeom>
          <a:solidFill>
            <a:srgbClr val="F35343"/>
          </a:solidFill>
          <a:ln/>
        </p:spPr>
      </p:sp>
      <p:sp>
        <p:nvSpPr>
          <p:cNvPr id="7" name="Text 4"/>
          <p:cNvSpPr/>
          <p:nvPr/>
        </p:nvSpPr>
        <p:spPr>
          <a:xfrm>
            <a:off x="8458200" y="4709160"/>
            <a:ext cx="457200" cy="228600"/>
          </a:xfrm>
          <a:prstGeom prst="rect">
            <a:avLst/>
          </a:prstGeom>
          <a:noFill/>
          <a:ln/>
        </p:spPr>
        <p:txBody>
          <a:bodyPr wrap="square" lIns="0" tIns="0" rIns="0" bIns="0" rtlCol="0" anchor="ctr"/>
          <a:lstStyle/>
          <a:p>
            <a:pPr algn="ctr" indent="0" marL="0">
              <a:buNone/>
            </a:pPr>
            <a:r>
              <a:rPr lang="en-US" sz="900" dirty="0">
                <a:solidFill>
                  <a:srgbClr val="8A9095"/>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One Job — Pitch Deck</dc:title>
  <dc:subject>PptxGenJS Presentation</dc:subject>
  <dc:creator>Christian Crumlish</dc:creator>
  <cp:lastModifiedBy>Christian Crumlish</cp:lastModifiedBy>
  <cp:revision>1</cp:revision>
  <dcterms:created xsi:type="dcterms:W3CDTF">2026-08-26T22:25:01Z</dcterms:created>
  <dcterms:modified xsi:type="dcterms:W3CDTF">2026-08-26T22:25:01Z</dcterms:modified>
</cp:coreProperties>
</file>